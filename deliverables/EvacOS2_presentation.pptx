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-1188720"/>
            <a:ext cx="4937760" cy="4937760"/>
          </a:xfrm>
          <a:prstGeom prst="ellipse">
            <a:avLst/>
          </a:prstGeom>
          <a:solidFill>
            <a:srgbClr val="1B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389120"/>
            <a:ext cx="3840480" cy="3840480"/>
          </a:xfrm>
          <a:prstGeom prst="ellipse">
            <a:avLst/>
          </a:prstGeom>
          <a:solidFill>
            <a:srgbClr val="F58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EvacOS2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44752"/>
            <a:ext cx="6675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0">
                <a:solidFill>
                  <a:srgbClr val="E6EEF2"/>
                </a:solidFill>
                <a:latin typeface="Georgia"/>
              </a:defRPr>
            </a:pPr>
            <a:r>
              <a:t>Hierarchical agent evaluation for emergency evacuation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31136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C3D3DB"/>
                </a:solidFill>
                <a:latin typeface="Aptos"/>
              </a:defRPr>
            </a:pPr>
            <a:r>
              <a:t>OpenEnv runtime  |  3B floor specialists  |  7B orchestrator canary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4005072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000" b="1">
                <a:solidFill>
                  <a:srgbClr val="F58037"/>
                </a:solidFill>
                <a:latin typeface="Georgia"/>
              </a:defRPr>
            </a:pPr>
            <a:r>
              <a:t>62.38% to 80.05%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448970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80" b="1">
                <a:solidFill>
                  <a:srgbClr val="59667C"/>
                </a:solidFill>
                <a:latin typeface="Aptos"/>
              </a:defRPr>
            </a:pPr>
            <a:r>
              <a:t>held-out bounded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4005072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000" b="1">
                <a:solidFill>
                  <a:srgbClr val="1B847A"/>
                </a:solidFill>
                <a:latin typeface="Georgia"/>
              </a:defRPr>
            </a:pPr>
            <a:r>
              <a:t>34.47% to 1.10%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48970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80" b="1">
                <a:solidFill>
                  <a:srgbClr val="59667C"/>
                </a:solidFill>
                <a:latin typeface="Aptos"/>
              </a:defRPr>
            </a:pPr>
            <a:r>
              <a:t>invalid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4005072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000" b="1">
                <a:solidFill>
                  <a:srgbClr val="81D3BD"/>
                </a:solidFill>
                <a:latin typeface="Georgia"/>
              </a:defRPr>
            </a:pPr>
            <a:r>
              <a:t>0% parse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448970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80" b="1">
                <a:solidFill>
                  <a:srgbClr val="59667C"/>
                </a:solidFill>
                <a:latin typeface="Aptos"/>
              </a:defRPr>
            </a:pPr>
            <a:r>
              <a:t>7B canary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327648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ECDD6"/>
                </a:solidFill>
                <a:latin typeface="Aptos"/>
              </a:defRPr>
            </a:pPr>
            <a:r>
              <a:t>Sai Shashank Narang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1B847A"/>
                </a:solidFill>
                <a:latin typeface="Aptos"/>
              </a:defRPr>
            </a:pPr>
            <a: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72034"/>
                </a:solidFill>
                <a:latin typeface="Georgia"/>
              </a:defRPr>
            </a:pPr>
            <a:r>
              <a:t>The gap: agents are still graded like solo text generators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465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9667C"/>
                </a:solidFill>
                <a:latin typeface="Aptos"/>
              </a:defRPr>
            </a:pPr>
            <a:r>
              <a:t>EvacOS2  |  02</a:t>
            </a:r>
          </a:p>
        </p:txBody>
      </p:sp>
      <p:sp>
        <p:nvSpPr>
          <p:cNvPr id="6" name="Oval 5"/>
          <p:cNvSpPr/>
          <p:nvPr/>
        </p:nvSpPr>
        <p:spPr>
          <a:xfrm>
            <a:off x="8686800" y="457200"/>
            <a:ext cx="2926080" cy="2926080"/>
          </a:xfrm>
          <a:prstGeom prst="ellipse">
            <a:avLst/>
          </a:prstGeom>
          <a:solidFill>
            <a:srgbClr val="E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200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19072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B847A"/>
                </a:solidFill>
                <a:latin typeface="Aptos"/>
              </a:defRPr>
            </a:pPr>
            <a:r>
              <a:t>Static evals miss the hard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48256"/>
            <a:ext cx="2871216" cy="3026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72034"/>
                </a:solidFill>
                <a:latin typeface="Aptos"/>
              </a:defRPr>
            </a:pPr>
            <a:r>
              <a:t>Most benchmarks ask whether a model can answer. Real systems ask which agent should act, when it should defer, and whether the action is valid after the world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200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719072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58037"/>
                </a:solidFill>
                <a:latin typeface="Aptos"/>
              </a:defRPr>
            </a:pPr>
            <a:r>
              <a:t>Coordination creates failure modes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048256"/>
            <a:ext cx="2871216" cy="3026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72034"/>
                </a:solidFill>
                <a:latin typeface="Aptos"/>
              </a:defRPr>
            </a:pPr>
            <a:r>
              <a:t>Local success can hurt the team if exits bottleneck, hazards spread, or a floor acts without knowing the building-level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72768"/>
            <a:ext cx="3200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719072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B847A"/>
                </a:solidFill>
                <a:latin typeface="Aptos"/>
              </a:defRPr>
            </a:pPr>
            <a:r>
              <a:t>Evacuation makes it concrete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048256"/>
            <a:ext cx="2871216" cy="3026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72034"/>
                </a:solidFill>
                <a:latin typeface="Aptos"/>
              </a:defRPr>
            </a:pPr>
            <a:r>
              <a:t>Emergency response turns model allocation into something measurable: fast local action, global prioritization, escalation, and invalid-action discipline.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1B847A"/>
                </a:solidFill>
                <a:latin typeface="Aptos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72034"/>
                </a:solidFill>
                <a:latin typeface="Georgia"/>
              </a:defRPr>
            </a:pPr>
            <a:r>
              <a:t>What EvacOS2 actually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465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9667C"/>
                </a:solidFill>
                <a:latin typeface="Aptos"/>
              </a:defRPr>
            </a:pPr>
            <a:r>
              <a:t>EvacOS2  |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0">
                <a:solidFill>
                  <a:srgbClr val="172034"/>
                </a:solidFill>
                <a:latin typeface="Georgia"/>
              </a:defRPr>
            </a:pPr>
            <a:r>
              <a:t>A live OpenEnv-compatible simulator where six agents coordinate under evolving fire, flood, and gas scenarios.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72034"/>
                </a:solidFill>
                <a:latin typeface="Aptos"/>
              </a:defRPr>
            </a:pPr>
            <a:r>
              <a:t>1 building-level orchestrator plus 5 floor agents</a:t>
            </a:r>
          </a:p>
          <a:p>
            <a:pPr>
              <a:spcAft>
                <a:spcPts val="700"/>
              </a:spcAft>
              <a:defRPr sz="1600">
                <a:solidFill>
                  <a:srgbClr val="172034"/>
                </a:solidFill>
                <a:latin typeface="Aptos"/>
              </a:defRPr>
            </a:pPr>
            <a:r>
              <a:t>Role-specific observations and action schemas</a:t>
            </a:r>
          </a:p>
          <a:p>
            <a:pPr>
              <a:spcAft>
                <a:spcPts val="700"/>
              </a:spcAft>
              <a:defRPr sz="1600">
                <a:solidFill>
                  <a:srgbClr val="172034"/>
                </a:solidFill>
                <a:latin typeface="Aptos"/>
              </a:defRPr>
            </a:pPr>
            <a:r>
              <a:t>Deterministic resets for reproducible evaluation</a:t>
            </a:r>
          </a:p>
          <a:p>
            <a:pPr>
              <a:spcAft>
                <a:spcPts val="700"/>
              </a:spcAft>
              <a:defRPr sz="1600">
                <a:solidFill>
                  <a:srgbClr val="172034"/>
                </a:solidFill>
                <a:latin typeface="Aptos"/>
              </a:defRPr>
            </a:pPr>
            <a:r>
              <a:t>Programmatic rewards, invalid-action tracking, and route-target audits</a:t>
            </a:r>
          </a:p>
          <a:p>
            <a:pPr>
              <a:spcAft>
                <a:spcPts val="700"/>
              </a:spcAft>
              <a:defRPr sz="1600">
                <a:solidFill>
                  <a:srgbClr val="172034"/>
                </a:solidFill>
                <a:latin typeface="Aptos"/>
              </a:defRPr>
            </a:pPr>
            <a:r>
              <a:t>LoRA training with public checkpoints and metrics artifacts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874519"/>
            <a:ext cx="4343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2020824"/>
            <a:ext cx="4014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B847A"/>
                </a:solidFill>
                <a:latin typeface="Aptos"/>
              </a:defRPr>
            </a:pPr>
            <a:r>
              <a:t>OpenEnv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2350008"/>
            <a:ext cx="4014215" cy="283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72034"/>
                </a:solidFill>
                <a:latin typeface="Aptos"/>
              </a:defRPr>
            </a:pPr>
            <a:r>
              <a:t>/openenv/health, /metadata, /reset, /step, /state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971800"/>
            <a:ext cx="4343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3118104"/>
            <a:ext cx="4014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8037"/>
                </a:solidFill>
                <a:latin typeface="Aptos"/>
              </a:defRPr>
            </a:pPr>
            <a:r>
              <a:t>Response lanes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3447288"/>
            <a:ext cx="4014215" cy="283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72034"/>
                </a:solidFill>
                <a:latin typeface="Aptos"/>
              </a:defRPr>
            </a:pPr>
            <a:r>
              <a:t>openenv_fire_response, openenv_flood_response, openenv_gas_response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069080"/>
            <a:ext cx="4343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4215384"/>
            <a:ext cx="4014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B847A"/>
                </a:solidFill>
                <a:latin typeface="Aptos"/>
              </a:defRPr>
            </a:pPr>
            <a:r>
              <a:t>Artifact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4544568"/>
            <a:ext cx="4014215" cy="283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72034"/>
                </a:solidFill>
                <a:latin typeface="Aptos"/>
              </a:defRPr>
            </a:pPr>
            <a:r>
              <a:t>README, notebook, plots, held-out CSVs, adapter repo, paper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1B847A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72034"/>
                </a:solidFill>
                <a:latin typeface="Georgia"/>
              </a:defRPr>
            </a:pPr>
            <a:r>
              <a:t>The core idea: split speed from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465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9667C"/>
                </a:solidFill>
                <a:latin typeface="Aptos"/>
              </a:defRPr>
            </a:pPr>
            <a:r>
              <a:t>EvacOS2  |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172034"/>
                </a:solidFill>
                <a:latin typeface="Georgia"/>
              </a:defRPr>
            </a:pPr>
            <a:r>
              <a:t>Fast 3B specialists handle routine floor-level movement. A slower 7B coordinator is reserved for global priorities and outliers.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566160" cy="822960"/>
          </a:xfrm>
          <a:prstGeom prst="round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05740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7B 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86200"/>
            <a:ext cx="1828800" cy="749808"/>
          </a:xfrm>
          <a:prstGeom prst="roundRect">
            <a:avLst/>
          </a:prstGeom>
          <a:solidFill>
            <a:srgbClr val="1B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114800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3B floor 1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554480" y="2651760"/>
            <a:ext cx="4526280" cy="1234440"/>
          </a:xfrm>
          <a:prstGeom prst="line">
            <a:avLst/>
          </a:prstGeom>
          <a:ln w="16510">
            <a:solidFill>
              <a:srgbClr val="96A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88920" y="3886200"/>
            <a:ext cx="1828800" cy="749808"/>
          </a:xfrm>
          <a:prstGeom prst="roundRect">
            <a:avLst/>
          </a:prstGeom>
          <a:solidFill>
            <a:srgbClr val="1B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5224" y="4114800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3B floor 2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703320" y="2651760"/>
            <a:ext cx="2377440" cy="1234440"/>
          </a:xfrm>
          <a:prstGeom prst="line">
            <a:avLst/>
          </a:prstGeom>
          <a:ln w="16510">
            <a:solidFill>
              <a:srgbClr val="96A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37760" y="3886200"/>
            <a:ext cx="1828800" cy="749808"/>
          </a:xfrm>
          <a:prstGeom prst="roundRect">
            <a:avLst/>
          </a:prstGeom>
          <a:solidFill>
            <a:srgbClr val="1B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4114800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3B floor 3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852160" y="2651760"/>
            <a:ext cx="228600" cy="1234440"/>
          </a:xfrm>
          <a:prstGeom prst="line">
            <a:avLst/>
          </a:prstGeom>
          <a:ln w="16510">
            <a:solidFill>
              <a:srgbClr val="96A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86600" y="3886200"/>
            <a:ext cx="1828800" cy="749808"/>
          </a:xfrm>
          <a:prstGeom prst="roundRect">
            <a:avLst/>
          </a:prstGeom>
          <a:solidFill>
            <a:srgbClr val="1B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2904" y="4114800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3B floor 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651760"/>
            <a:ext cx="1920240" cy="1234440"/>
          </a:xfrm>
          <a:prstGeom prst="line">
            <a:avLst/>
          </a:prstGeom>
          <a:ln w="16510">
            <a:solidFill>
              <a:srgbClr val="96A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35440" y="3886200"/>
            <a:ext cx="1828800" cy="749808"/>
          </a:xfrm>
          <a:prstGeom prst="roundRect">
            <a:avLst/>
          </a:prstGeom>
          <a:solidFill>
            <a:srgbClr val="1B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4114800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3B floor 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651760"/>
            <a:ext cx="4069080" cy="1234440"/>
          </a:xfrm>
          <a:prstGeom prst="line">
            <a:avLst/>
          </a:prstGeom>
          <a:ln w="16510">
            <a:solidFill>
              <a:srgbClr val="96A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8680" y="5257800"/>
            <a:ext cx="3246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5404104"/>
            <a:ext cx="29169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B847A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5733288"/>
            <a:ext cx="2916936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172034"/>
                </a:solidFill>
                <a:latin typeface="Aptos"/>
              </a:defRPr>
            </a:pPr>
            <a:r>
              <a:t>route, scout, prioritize rooms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5257800"/>
            <a:ext cx="3246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404104"/>
            <a:ext cx="29169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8037"/>
                </a:solidFill>
                <a:latin typeface="Aptos"/>
              </a:defRPr>
            </a:pPr>
            <a:r>
              <a:t>Global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733288"/>
            <a:ext cx="2916936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172034"/>
                </a:solidFill>
                <a:latin typeface="Aptos"/>
              </a:defRPr>
            </a:pPr>
            <a:r>
              <a:t>directives, bottlenecks, overrides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5257800"/>
            <a:ext cx="3246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5404104"/>
            <a:ext cx="29169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B847A"/>
                </a:solidFill>
                <a:latin typeface="Aptos"/>
              </a:defRPr>
            </a:pPr>
            <a:r>
              <a:t>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5733288"/>
            <a:ext cx="2916936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172034"/>
                </a:solidFill>
                <a:latin typeface="Aptos"/>
              </a:defRPr>
            </a:pPr>
            <a:r>
              <a:t>mixed incidents and escalation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1B847A"/>
                </a:solidFill>
                <a:latin typeface="Aptos"/>
              </a:defRPr>
            </a:pPr>
            <a:r>
              <a:t>EVIDENCE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72034"/>
                </a:solidFill>
                <a:latin typeface="Georgia"/>
              </a:defRPr>
            </a:pPr>
            <a:r>
              <a:t>We separate proof from ambition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465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9667C"/>
                </a:solidFill>
                <a:latin typeface="Aptos"/>
              </a:defRPr>
            </a:pPr>
            <a:r>
              <a:t>EvacOS2  |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7160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1325880"/>
            <a:ext cx="566928" cy="566928"/>
          </a:xfrm>
          <a:prstGeom prst="ellipse">
            <a:avLst/>
          </a:prstGeom>
          <a:solidFill>
            <a:srgbClr val="1B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32588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72034"/>
                </a:solidFill>
                <a:latin typeface="Aptos"/>
              </a:defRPr>
            </a:pPr>
            <a:r>
              <a:t>Live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32588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9667C"/>
                </a:solidFill>
                <a:latin typeface="Aptos"/>
              </a:defRPr>
            </a:pPr>
            <a:r>
              <a:t>Public HF Space responds to OpenEnv health, reset, metadata, and step calls.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50591"/>
            <a:ext cx="438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2404872"/>
            <a:ext cx="566928" cy="566928"/>
          </a:xfrm>
          <a:prstGeom prst="ellipse">
            <a:avLst/>
          </a:prstGeom>
          <a:solidFill>
            <a:srgbClr val="F58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40487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72034"/>
                </a:solidFill>
                <a:latin typeface="Aptos"/>
              </a:defRPr>
            </a:pPr>
            <a:r>
              <a:t>3B held-out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404872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9667C"/>
                </a:solidFill>
                <a:latin typeface="Aptos"/>
              </a:defRPr>
            </a:pPr>
            <a:r>
              <a:t>Same seeds, same evaluator, base Qwen2.5-3B versus trained LoRA specialists.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529583"/>
            <a:ext cx="438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483863"/>
            <a:ext cx="566928" cy="566928"/>
          </a:xfrm>
          <a:prstGeom prst="ellipse">
            <a:avLst/>
          </a:prstGeom>
          <a:solidFill>
            <a:srgbClr val="1B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483863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72034"/>
                </a:solidFill>
                <a:latin typeface="Aptos"/>
              </a:defRPr>
            </a:pPr>
            <a:r>
              <a:t>Training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483863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9667C"/>
                </a:solidFill>
                <a:latin typeface="Aptos"/>
              </a:defRPr>
            </a:pPr>
            <a:r>
              <a:t>50-step canaries and H200 continuations show checkpoints, metrics, and reward traces.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608576"/>
            <a:ext cx="438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" y="4562856"/>
            <a:ext cx="566928" cy="566928"/>
          </a:xfrm>
          <a:prstGeom prst="ellipse">
            <a:avLst/>
          </a:prstGeom>
          <a:solidFill>
            <a:srgbClr val="1B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456285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72034"/>
                </a:solidFill>
                <a:latin typeface="Aptos"/>
              </a:defRPr>
            </a:pPr>
            <a:r>
              <a:t>7B canary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562856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9667C"/>
                </a:solidFill>
                <a:latin typeface="Aptos"/>
              </a:defRPr>
            </a:pPr>
            <a:r>
              <a:t>The orchestrator path resumes, checkpoints, emits role metrics, and keeps parser failures at zero.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1B847A"/>
                </a:solidFill>
                <a:latin typeface="Aptos"/>
              </a:defRPr>
            </a:pPr>
            <a:r>
              <a:t>HELD-OUT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72034"/>
                </a:solidFill>
                <a:latin typeface="Georgia"/>
              </a:defRPr>
            </a:pPr>
            <a:r>
              <a:t>The clean headline: trained 3B specialists improve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465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9667C"/>
                </a:solidFill>
                <a:latin typeface="Aptos"/>
              </a:defRPr>
            </a:pPr>
            <a:r>
              <a:t>EvacOS2  |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000" b="1">
                <a:solidFill>
                  <a:srgbClr val="59667C"/>
                </a:solidFill>
                <a:latin typeface="Georgia"/>
              </a:defRPr>
            </a:pPr>
            <a:r>
              <a:t>62.38%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80" b="1">
                <a:solidFill>
                  <a:srgbClr val="59667C"/>
                </a:solidFill>
                <a:latin typeface="Aptos"/>
              </a:defRPr>
            </a:pPr>
            <a:r>
              <a:t>base bounded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417320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000" b="1">
                <a:solidFill>
                  <a:srgbClr val="1B847A"/>
                </a:solidFill>
                <a:latin typeface="Georgia"/>
              </a:defRPr>
            </a:pPr>
            <a:r>
              <a:t>80.05%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0195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80" b="1">
                <a:solidFill>
                  <a:srgbClr val="59667C"/>
                </a:solidFill>
                <a:latin typeface="Aptos"/>
              </a:defRPr>
            </a:pPr>
            <a:r>
              <a:t>trained bounded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417320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000" b="1">
                <a:solidFill>
                  <a:srgbClr val="F58037"/>
                </a:solidFill>
                <a:latin typeface="Georgia"/>
              </a:defRPr>
            </a:pPr>
            <a:r>
              <a:t>+17.67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90195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80" b="1">
                <a:solidFill>
                  <a:srgbClr val="59667C"/>
                </a:solidFill>
                <a:latin typeface="Aptos"/>
              </a:defRPr>
            </a:pPr>
            <a:r>
              <a:t>same held-out slice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417320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000" b="1">
                <a:solidFill>
                  <a:srgbClr val="22935A"/>
                </a:solidFill>
                <a:latin typeface="Georgia"/>
              </a:defRPr>
            </a:pPr>
            <a:r>
              <a:t>34.47% to 1.10%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90195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80" b="1">
                <a:solidFill>
                  <a:srgbClr val="59667C"/>
                </a:solidFill>
                <a:latin typeface="Aptos"/>
              </a:defRPr>
            </a:pPr>
            <a:r>
              <a:t>invalid actions</a:t>
            </a:r>
          </a:p>
        </p:txBody>
      </p:sp>
      <p:pic>
        <p:nvPicPr>
          <p:cNvPr id="14" name="Picture 13" descr="heldout_3b_base_vs_trained_eval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79776"/>
            <a:ext cx="5212080" cy="2926080"/>
          </a:xfrm>
          <a:prstGeom prst="rect">
            <a:avLst/>
          </a:prstGeom>
        </p:spPr>
      </p:pic>
      <p:pic>
        <p:nvPicPr>
          <p:cNvPr id="15" name="Picture 14" descr="heldout_3b_base_vs_trained_invalid_action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79776"/>
            <a:ext cx="5212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1B847A"/>
                </a:solidFill>
                <a:latin typeface="Aptos"/>
              </a:defRPr>
            </a:pPr>
            <a:r>
              <a:t>FAMILY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72034"/>
                </a:solidFill>
                <a:latin typeface="Georgia"/>
              </a:defRPr>
            </a:pPr>
            <a:r>
              <a:t>Fire, flood, and gas each tell a different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465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9667C"/>
                </a:solidFill>
                <a:latin typeface="Aptos"/>
              </a:defRPr>
            </a:pPr>
            <a:r>
              <a:t>EvacOS2  |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43560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59667C"/>
                </a:solidFill>
                <a:latin typeface="Aptos"/>
              </a:defRPr>
            </a:pPr>
            <a:r>
              <a:t>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508760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59667C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508760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59667C"/>
                </a:solidFill>
                <a:latin typeface="Aptos"/>
              </a:defRPr>
            </a:pPr>
            <a:r>
              <a:t>Trained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508760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59667C"/>
                </a:solidFill>
                <a:latin typeface="Aptos"/>
              </a:defRPr>
            </a:pPr>
            <a:r>
              <a:t>Delta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08760"/>
            <a:ext cx="189280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59667C"/>
                </a:solidFill>
                <a:latin typeface="Aptos"/>
              </a:defRPr>
            </a:pPr>
            <a:r>
              <a:t>Invalid after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1984248"/>
            <a:ext cx="9107424" cy="502920"/>
          </a:xfrm>
          <a:prstGeom prst="roundRect">
            <a:avLst/>
          </a:prstGeom>
          <a:solidFill>
            <a:srgbClr val="E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12264"/>
            <a:ext cx="14356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72034"/>
                </a:solidFill>
                <a:latin typeface="Aptos"/>
              </a:defRPr>
            </a:pPr>
            <a:r>
              <a:t>Fire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112264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172034"/>
                </a:solidFill>
                <a:latin typeface="Aptos"/>
              </a:defRPr>
            </a:pPr>
            <a:r>
              <a:t>84.77%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112264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B847A"/>
                </a:solidFill>
                <a:latin typeface="Aptos"/>
              </a:defRPr>
            </a:pPr>
            <a:r>
              <a:t>96.64%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112264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58037"/>
                </a:solidFill>
                <a:latin typeface="Aptos"/>
              </a:defRPr>
            </a:pPr>
            <a:r>
              <a:t>+11.87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12264"/>
            <a:ext cx="18928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172034"/>
                </a:solidFill>
                <a:latin typeface="Aptos"/>
              </a:defRPr>
            </a:pPr>
            <a:r>
              <a:t>2.60%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2642616"/>
            <a:ext cx="9107424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70632"/>
            <a:ext cx="14356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72034"/>
                </a:solidFill>
                <a:latin typeface="Aptos"/>
              </a:defRPr>
            </a:pPr>
            <a:r>
              <a:t>Flood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770632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172034"/>
                </a:solidFill>
                <a:latin typeface="Aptos"/>
              </a:defRPr>
            </a:pPr>
            <a:r>
              <a:t>22.95%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770632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B847A"/>
                </a:solidFill>
                <a:latin typeface="Aptos"/>
              </a:defRPr>
            </a:pPr>
            <a:r>
              <a:t>45.42%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770632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58037"/>
                </a:solidFill>
                <a:latin typeface="Aptos"/>
              </a:defRPr>
            </a:pPr>
            <a:r>
              <a:t>+22.47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770632"/>
            <a:ext cx="18928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172034"/>
                </a:solidFill>
                <a:latin typeface="Aptos"/>
              </a:defRPr>
            </a:pPr>
            <a:r>
              <a:t>0.00%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3300984"/>
            <a:ext cx="9107424" cy="502920"/>
          </a:xfrm>
          <a:prstGeom prst="roundRect">
            <a:avLst/>
          </a:prstGeom>
          <a:solidFill>
            <a:srgbClr val="E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29000"/>
            <a:ext cx="14356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72034"/>
                </a:solidFill>
                <a:latin typeface="Aptos"/>
              </a:defRPr>
            </a:pPr>
            <a:r>
              <a:t>Gas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429000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172034"/>
                </a:solidFill>
                <a:latin typeface="Aptos"/>
              </a:defRPr>
            </a:pPr>
            <a:r>
              <a:t>79.43%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429000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B847A"/>
                </a:solidFill>
                <a:latin typeface="Aptos"/>
              </a:defRPr>
            </a:pPr>
            <a:r>
              <a:t>98.09%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429000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58037"/>
                </a:solidFill>
                <a:latin typeface="Aptos"/>
              </a:defRPr>
            </a:pPr>
            <a:r>
              <a:t>+18.67 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429000"/>
            <a:ext cx="18928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172034"/>
                </a:solidFill>
                <a:latin typeface="Aptos"/>
              </a:defRPr>
            </a:pPr>
            <a:r>
              <a:t>0.69%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206240"/>
            <a:ext cx="9966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0">
                <a:solidFill>
                  <a:srgbClr val="172034"/>
                </a:solidFill>
                <a:latin typeface="Georgia"/>
              </a:defRPr>
            </a:pPr>
            <a:r>
              <a:t>The point is not that the base model was helpless. The point is that training made the same model more reliable under the same contract.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1B847A"/>
                </a:solidFill>
                <a:latin typeface="Aptos"/>
              </a:defRPr>
            </a:pPr>
            <a:r>
              <a:t>ROUTE-TARGET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72034"/>
                </a:solidFill>
                <a:latin typeface="Georgia"/>
              </a:defRPr>
            </a:pPr>
            <a:r>
              <a:t>Reliability means following the route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465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9667C"/>
                </a:solidFill>
                <a:latin typeface="Aptos"/>
              </a:defRPr>
            </a:pPr>
            <a:r>
              <a:t>EvacOS2  |  08</a:t>
            </a:r>
          </a:p>
        </p:txBody>
      </p:sp>
      <p:pic>
        <p:nvPicPr>
          <p:cNvPr id="6" name="Picture 5" descr="3b_route_target_valid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8448"/>
            <a:ext cx="676656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50876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655063"/>
            <a:ext cx="27340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58037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984248"/>
            <a:ext cx="2734056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72034"/>
                </a:solidFill>
                <a:latin typeface="Aptos"/>
              </a:defRPr>
            </a:pPr>
            <a:r>
              <a:t>A route action without a target is not a plan. It is a fluent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92608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3072384"/>
            <a:ext cx="27340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B847A"/>
                </a:solidFill>
                <a:latin typeface="Aptos"/>
              </a:defRPr>
            </a:pPr>
            <a:r>
              <a:t>Current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401568"/>
            <a:ext cx="2734056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72034"/>
                </a:solidFill>
                <a:latin typeface="Aptos"/>
              </a:defRPr>
            </a:pPr>
            <a:r>
              <a:t>Fire and flood are clean. Gas remains below the 1% watchline after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34340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4489704"/>
            <a:ext cx="27340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B847A"/>
                </a:solidFill>
                <a:latin typeface="Aptos"/>
              </a:defRPr>
            </a:pPr>
            <a:r>
              <a:t>Judge-facing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818888"/>
            <a:ext cx="2734056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72034"/>
                </a:solidFill>
                <a:latin typeface="Aptos"/>
              </a:defRPr>
            </a:pPr>
            <a:r>
              <a:t>The model improved contract discipline, not just surface reward.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1B847A"/>
                </a:solidFill>
                <a:latin typeface="Aptos"/>
              </a:defRPr>
            </a:pPr>
            <a:r>
              <a:t>TRAINING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72034"/>
                </a:solidFill>
                <a:latin typeface="Georgia"/>
              </a:defRPr>
            </a:pPr>
            <a:r>
              <a:t>Training was not just a table at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465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9667C"/>
                </a:solidFill>
                <a:latin typeface="Aptos"/>
              </a:defRPr>
            </a:pPr>
            <a:r>
              <a:t>EvacOS2  |  09</a:t>
            </a:r>
          </a:p>
        </p:txBody>
      </p:sp>
      <p:pic>
        <p:nvPicPr>
          <p:cNvPr id="6" name="Picture 5" descr="h200_resume200_raw_reward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325880"/>
            <a:ext cx="5257800" cy="2926080"/>
          </a:xfrm>
          <a:prstGeom prst="rect">
            <a:avLst/>
          </a:prstGeom>
        </p:spPr>
      </p:pic>
      <p:pic>
        <p:nvPicPr>
          <p:cNvPr id="7" name="Picture 6" descr="h200_resume200_invalid_action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25880"/>
            <a:ext cx="52578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" y="4892040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0">
                <a:solidFill>
                  <a:srgbClr val="172034"/>
                </a:solidFill>
                <a:latin typeface="Georgia"/>
              </a:defRPr>
            </a:pPr>
            <a:r>
              <a:t>The larger trail includes 50-step canaries, H200 continuations to ckpt199, refreshed gas audit, and public adapter artifacts.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1B847A"/>
                </a:solidFill>
                <a:latin typeface="Aptos"/>
              </a:defRPr>
            </a:pPr>
            <a:r>
              <a:t>ORCHESTRATOR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72034"/>
                </a:solidFill>
                <a:latin typeface="Georgia"/>
              </a:defRPr>
            </a:pPr>
            <a:r>
              <a:t>What the 7B proves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465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9667C"/>
                </a:solidFill>
                <a:latin typeface="Aptos"/>
              </a:defRPr>
            </a:pPr>
            <a:r>
              <a:t>EvacOS2  |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887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Georgia"/>
              </a:defRPr>
            </a:pPr>
            <a:r>
              <a:t>The 7B is not claimed as converged. It is validated as a real coordination lane.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000" b="1">
                <a:solidFill>
                  <a:srgbClr val="F58037"/>
                </a:solidFill>
                <a:latin typeface="Georgia"/>
              </a:defRPr>
            </a:pPr>
            <a:r>
              <a:t>350 to 359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80" b="1">
                <a:solidFill>
                  <a:srgbClr val="59667C"/>
                </a:solidFill>
                <a:latin typeface="Aptos"/>
              </a:defRPr>
            </a:pPr>
            <a:r>
              <a:t>resumed canary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48840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000" b="1">
                <a:solidFill>
                  <a:srgbClr val="81D3BD"/>
                </a:solidFill>
                <a:latin typeface="Georgia"/>
              </a:defRPr>
            </a:pPr>
            <a:r>
              <a:t>0.00%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334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80" b="1">
                <a:solidFill>
                  <a:srgbClr val="59667C"/>
                </a:solidFill>
                <a:latin typeface="Aptos"/>
              </a:defRPr>
            </a:pPr>
            <a:r>
              <a:t>invalid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48840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000" b="1">
                <a:solidFill>
                  <a:srgbClr val="81D3BD"/>
                </a:solidFill>
                <a:latin typeface="Georgia"/>
              </a:defRPr>
            </a:pPr>
            <a:r>
              <a:t>0.00%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6334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80" b="1">
                <a:solidFill>
                  <a:srgbClr val="59667C"/>
                </a:solidFill>
                <a:latin typeface="Aptos"/>
              </a:defRPr>
            </a:pPr>
            <a:r>
              <a:t>orchestrator parse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000" b="1">
                <a:solidFill>
                  <a:srgbClr val="F58037"/>
                </a:solidFill>
                <a:latin typeface="Georgia"/>
              </a:defRPr>
            </a:pPr>
            <a:r>
              <a:t>86.45%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334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80" b="1">
                <a:solidFill>
                  <a:srgbClr val="59667C"/>
                </a:solidFill>
                <a:latin typeface="Aptos"/>
              </a:defRPr>
            </a:pPr>
            <a:r>
              <a:t>priority-rank fraction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77639"/>
            <a:ext cx="4572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23944"/>
            <a:ext cx="42428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81D3BD"/>
                </a:solidFill>
                <a:latin typeface="Aptos"/>
              </a:defRPr>
            </a:pPr>
            <a:r>
              <a:t>Resume path works from public checkpoint ckpt349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453127"/>
            <a:ext cx="4242816" cy="7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" b="0">
                <a:solidFill>
                  <a:srgbClr val="172034"/>
                </a:solidFill>
                <a:latin typeface="Aptos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126480" y="3977639"/>
            <a:ext cx="4572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4123944"/>
            <a:ext cx="42428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81D3BD"/>
                </a:solidFill>
                <a:latin typeface="Aptos"/>
              </a:defRPr>
            </a:pPr>
            <a:r>
              <a:t>Frozen fire, flood, and gas 3B specialists are wired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453127"/>
            <a:ext cx="4242816" cy="7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" b="0">
                <a:solidFill>
                  <a:srgbClr val="172034"/>
                </a:solidFill>
                <a:latin typeface="Aptos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914400" y="4892040"/>
            <a:ext cx="4572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5038344"/>
            <a:ext cx="42428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81D3BD"/>
                </a:solidFill>
                <a:latin typeface="Aptos"/>
              </a:defRPr>
            </a:pPr>
            <a:r>
              <a:t>Role metrics are emitted separately for orchestrator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5367527"/>
            <a:ext cx="4242816" cy="7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" b="0">
                <a:solidFill>
                  <a:srgbClr val="172034"/>
                </a:solidFill>
                <a:latin typeface="Aptos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6126480" y="4892040"/>
            <a:ext cx="4572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5038344"/>
            <a:ext cx="42428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81D3BD"/>
                </a:solidFill>
                <a:latin typeface="Aptos"/>
              </a:defRPr>
            </a:pPr>
            <a:r>
              <a:t>Final held-out 7B convergence remains 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5367527"/>
            <a:ext cx="4242816" cy="7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" b="0">
                <a:solidFill>
                  <a:srgbClr val="1720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1B847A"/>
                </a:solidFill>
                <a:latin typeface="Aptos"/>
              </a:defRPr>
            </a:pPr>
            <a: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72034"/>
                </a:solidFill>
                <a:latin typeface="Georgia"/>
              </a:defRPr>
            </a:pPr>
            <a:r>
              <a:t>Everything important is public and rerunnable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465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9667C"/>
                </a:solidFill>
                <a:latin typeface="Aptos"/>
              </a:defRPr>
            </a:pPr>
            <a:r>
              <a:t>EvacOS2  |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417320"/>
            <a:ext cx="10195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563624"/>
            <a:ext cx="98663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B847A"/>
                </a:solidFill>
                <a:latin typeface="Aptos"/>
              </a:defRPr>
            </a:pPr>
            <a:r>
              <a:t>Live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892808"/>
            <a:ext cx="9866376" cy="-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72034"/>
                </a:solidFill>
                <a:latin typeface="Aptos"/>
              </a:defRPr>
            </a:pPr>
            <a:r>
              <a:t>huggingface.co/spaces/shashankN777/evacos2-openenv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221992"/>
            <a:ext cx="10195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368296"/>
            <a:ext cx="98663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8037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697480"/>
            <a:ext cx="9866376" cy="-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72034"/>
                </a:solidFill>
                <a:latin typeface="Aptos"/>
              </a:defRPr>
            </a:pPr>
            <a:r>
              <a:t>github.com/sai-shashankN/EvacOS2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026664"/>
            <a:ext cx="10195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3172968"/>
            <a:ext cx="98663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B847A"/>
                </a:solidFill>
                <a:latin typeface="Aptos"/>
              </a:defRPr>
            </a:pPr>
            <a:r>
              <a:t>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3502152"/>
            <a:ext cx="9866376" cy="-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72034"/>
                </a:solidFill>
                <a:latin typeface="Aptos"/>
              </a:defRPr>
            </a:pPr>
            <a:r>
              <a:t>notebooks/train_evacos_ma.ipynb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831336"/>
            <a:ext cx="10195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3977640"/>
            <a:ext cx="98663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8037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4306824"/>
            <a:ext cx="9866376" cy="-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72034"/>
                </a:solidFill>
                <a:latin typeface="Aptos"/>
              </a:defRPr>
            </a:pPr>
            <a:r>
              <a:t>shashankN777/evacos2-7b-orchestrator-artifacts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636008"/>
            <a:ext cx="10195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4782312"/>
            <a:ext cx="98663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B847A"/>
                </a:solidFill>
                <a:latin typeface="Aptos"/>
              </a:defRPr>
            </a:pPr>
            <a:r>
              <a:t>Paper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5111496"/>
            <a:ext cx="9866376" cy="-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72034"/>
                </a:solidFill>
                <a:latin typeface="Aptos"/>
              </a:defRPr>
            </a:pPr>
            <a:r>
              <a:t>RESEARCH_PAPER.md and RESEARCH_PAPER.pdf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365760"/>
            <a:ext cx="3840480" cy="3840480"/>
          </a:xfrm>
          <a:prstGeom prst="ellipse">
            <a:avLst/>
          </a:prstGeom>
          <a:solidFill>
            <a:srgbClr val="1B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297680"/>
            <a:ext cx="3200400" cy="3200400"/>
          </a:xfrm>
          <a:prstGeom prst="ellipse">
            <a:avLst/>
          </a:prstGeom>
          <a:solidFill>
            <a:srgbClr val="F58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84124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0">
                <a:solidFill>
                  <a:srgbClr val="CDDCE3"/>
                </a:solidFill>
                <a:latin typeface="Georgia"/>
              </a:defRPr>
            </a:pPr>
            <a:r>
              <a:t>The claim is simple: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444752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EvacOS2 makes agent-team failure measurable.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9572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0">
                <a:solidFill>
                  <a:srgbClr val="E2ECF0"/>
                </a:solidFill>
                <a:latin typeface="Georgia"/>
              </a:defRPr>
            </a:pPr>
            <a:r>
              <a:t>It does not ask whether a model can sound helpful. It asks whether the right agent acts at the right time, with a valid action, inside a changing world.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89204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C8D7DE"/>
                </a:solidFill>
                <a:latin typeface="Aptos"/>
              </a:defRPr>
            </a:pPr>
            <a:r>
              <a:t>Next step: larger held-out suites and a final 7B orchestrator scorecard.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1558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58037"/>
                </a:solidFill>
                <a:latin typeface="Georgia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