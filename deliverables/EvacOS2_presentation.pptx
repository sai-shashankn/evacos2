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955279" y="-1188720"/>
            <a:ext cx="4937760" cy="4937760"/>
          </a:xfrm>
          <a:prstGeom prst="ellipse">
            <a:avLst/>
          </a:prstGeom>
          <a:solidFill>
            <a:srgbClr val="1B84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188720" y="4389120"/>
            <a:ext cx="3840480" cy="3840480"/>
          </a:xfrm>
          <a:prstGeom prst="ellipse">
            <a:avLst/>
          </a:prstGeom>
          <a:solidFill>
            <a:srgbClr val="F58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8368"/>
            <a:ext cx="43891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Georgia"/>
              </a:defRPr>
            </a:pPr>
            <a:r>
              <a:t>EvacOS2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444752"/>
            <a:ext cx="66751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2400" b="0">
                <a:solidFill>
                  <a:srgbClr val="E6EEF2"/>
                </a:solidFill>
                <a:latin typeface="Georgia"/>
              </a:defRPr>
            </a:pPr>
            <a:r>
              <a:t>Hierarchical agent evaluation for emergency evacuation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231136"/>
            <a:ext cx="7132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00" b="0">
                <a:solidFill>
                  <a:srgbClr val="C3D3DB"/>
                </a:solidFill>
                <a:latin typeface="Aptos"/>
              </a:defRPr>
            </a:pPr>
            <a:r>
              <a:t>OpenEnv runtime  |  3B floor specialists  |  7B orchestrator canary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4005072"/>
            <a:ext cx="242316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000" b="1">
                <a:solidFill>
                  <a:srgbClr val="F58037"/>
                </a:solidFill>
                <a:latin typeface="Georgia"/>
              </a:defRPr>
            </a:pPr>
            <a:r>
              <a:t>62.38% to 80.05%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4489704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80" b="1">
                <a:solidFill>
                  <a:srgbClr val="59667C"/>
                </a:solidFill>
                <a:latin typeface="Aptos"/>
              </a:defRPr>
            </a:pPr>
            <a:r>
              <a:t>held-out bounded score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01568" y="4005072"/>
            <a:ext cx="242316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000" b="1">
                <a:solidFill>
                  <a:srgbClr val="1B847A"/>
                </a:solidFill>
                <a:latin typeface="Georgia"/>
              </a:defRPr>
            </a:pPr>
            <a:r>
              <a:t>34.47% to 1.10%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1568" y="4489704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80" b="1">
                <a:solidFill>
                  <a:srgbClr val="59667C"/>
                </a:solidFill>
                <a:latin typeface="Aptos"/>
              </a:defRPr>
            </a:pPr>
            <a:r>
              <a:t>invalid actions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08192" y="4005072"/>
            <a:ext cx="242316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000" b="1">
                <a:solidFill>
                  <a:srgbClr val="81D3BD"/>
                </a:solidFill>
                <a:latin typeface="Georgia"/>
              </a:defRPr>
            </a:pPr>
            <a:r>
              <a:t>0% parse errors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08192" y="4489704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80" b="1">
                <a:solidFill>
                  <a:srgbClr val="59667C"/>
                </a:solidFill>
                <a:latin typeface="Aptos"/>
              </a:defRPr>
            </a:pPr>
            <a:r>
              <a:t>7B canary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327648"/>
            <a:ext cx="42062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00" b="0">
                <a:solidFill>
                  <a:srgbClr val="BECDD6"/>
                </a:solidFill>
                <a:latin typeface="Aptos"/>
              </a:defRPr>
            </a:pPr>
            <a:r>
              <a:t>Sai Shashank Narang  |  June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5029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850" b="1">
                <a:solidFill>
                  <a:srgbClr val="1B847A"/>
                </a:solidFill>
                <a:latin typeface="Aptos"/>
              </a:defRPr>
            </a:pPr>
            <a:r>
              <a:t>WHY THIS EXISTS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2800" b="1">
                <a:solidFill>
                  <a:srgbClr val="172034"/>
                </a:solidFill>
                <a:latin typeface="Georgia"/>
              </a:defRPr>
            </a:pPr>
            <a:r>
              <a:t>The gap: agents are still graded like solo text generators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61320" y="6446520"/>
            <a:ext cx="10972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850" b="0">
                <a:solidFill>
                  <a:srgbClr val="59667C"/>
                </a:solidFill>
                <a:latin typeface="Aptos"/>
              </a:defRPr>
            </a:pPr>
            <a:r>
              <a:t>EvacOS2  |  02</a:t>
            </a:r>
          </a:p>
        </p:txBody>
      </p:sp>
      <p:sp>
        <p:nvSpPr>
          <p:cNvPr id="6" name="Oval 5"/>
          <p:cNvSpPr/>
          <p:nvPr/>
        </p:nvSpPr>
        <p:spPr>
          <a:xfrm>
            <a:off x="8686800" y="457200"/>
            <a:ext cx="2926080" cy="2926080"/>
          </a:xfrm>
          <a:prstGeom prst="ellipse">
            <a:avLst/>
          </a:prstGeom>
          <a:solidFill>
            <a:srgbClr val="E2F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85800" y="1572768"/>
            <a:ext cx="3200400" cy="3611880"/>
          </a:xfrm>
          <a:prstGeom prst="roundRect">
            <a:avLst/>
          </a:prstGeom>
          <a:solidFill>
            <a:srgbClr val="FFFFFF"/>
          </a:solidFill>
          <a:ln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19072"/>
            <a:ext cx="287121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500" b="1">
                <a:solidFill>
                  <a:srgbClr val="1B847A"/>
                </a:solidFill>
                <a:latin typeface="Aptos"/>
              </a:defRPr>
            </a:pPr>
            <a:r>
              <a:t>Static evals miss the hard part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2048256"/>
            <a:ext cx="2871216" cy="3026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00" b="0">
                <a:solidFill>
                  <a:srgbClr val="172034"/>
                </a:solidFill>
                <a:latin typeface="Aptos"/>
              </a:defRPr>
            </a:pPr>
            <a:r>
              <a:t>Most benchmarks ask whether a model can answer. Real systems ask which agent should act, when it should defer, and whether the action is valid after the world changes.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572768"/>
            <a:ext cx="3200400" cy="3611880"/>
          </a:xfrm>
          <a:prstGeom prst="roundRect">
            <a:avLst/>
          </a:prstGeom>
          <a:solidFill>
            <a:srgbClr val="FFFFFF"/>
          </a:solidFill>
          <a:ln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9431" y="1719072"/>
            <a:ext cx="287121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500" b="1">
                <a:solidFill>
                  <a:srgbClr val="F58037"/>
                </a:solidFill>
                <a:latin typeface="Aptos"/>
              </a:defRPr>
            </a:pPr>
            <a:r>
              <a:t>Coordination creates failure modes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9431" y="2048256"/>
            <a:ext cx="2871216" cy="3026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00" b="0">
                <a:solidFill>
                  <a:srgbClr val="172034"/>
                </a:solidFill>
                <a:latin typeface="Aptos"/>
              </a:defRPr>
            </a:pPr>
            <a:r>
              <a:t>Local success can hurt the team if exits bottleneck, hazards spread, or a floor acts without knowing the building-level state.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3879" y="1572768"/>
            <a:ext cx="3200400" cy="3611880"/>
          </a:xfrm>
          <a:prstGeom prst="roundRect">
            <a:avLst/>
          </a:prstGeom>
          <a:solidFill>
            <a:srgbClr val="FFFFFF"/>
          </a:solidFill>
          <a:ln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48471" y="1719072"/>
            <a:ext cx="287121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500" b="1">
                <a:solidFill>
                  <a:srgbClr val="1B847A"/>
                </a:solidFill>
                <a:latin typeface="Aptos"/>
              </a:defRPr>
            </a:pPr>
            <a:r>
              <a:t>Evacuation makes it concrete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48471" y="2048256"/>
            <a:ext cx="2871216" cy="3026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00" b="0">
                <a:solidFill>
                  <a:srgbClr val="172034"/>
                </a:solidFill>
                <a:latin typeface="Aptos"/>
              </a:defRPr>
            </a:pPr>
            <a:r>
              <a:t>Emergency response turns model allocation into something measurable: fast local action, global prioritization, escalation, and invalid-action discipline.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5029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850" b="1">
                <a:solidFill>
                  <a:srgbClr val="1B847A"/>
                </a:solidFill>
                <a:latin typeface="Aptos"/>
              </a:defRPr>
            </a:pPr>
            <a:r>
              <a:t>SYSTEM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2800" b="1">
                <a:solidFill>
                  <a:srgbClr val="172034"/>
                </a:solidFill>
                <a:latin typeface="Georgia"/>
              </a:defRPr>
            </a:pPr>
            <a:r>
              <a:t>What EvacOS2 actually 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61320" y="6446520"/>
            <a:ext cx="10972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850" b="0">
                <a:solidFill>
                  <a:srgbClr val="59667C"/>
                </a:solidFill>
                <a:latin typeface="Aptos"/>
              </a:defRPr>
            </a:pPr>
            <a:r>
              <a:t>EvacOS2  |  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53312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2200" b="0">
                <a:solidFill>
                  <a:srgbClr val="172034"/>
                </a:solidFill>
                <a:latin typeface="Georgia"/>
              </a:defRPr>
            </a:pPr>
            <a:r>
              <a:t>A live OpenEnv-compatible simulator where six agents coordinate under evolving fire, flood, and gas scenarios.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148840"/>
            <a:ext cx="512064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172034"/>
                </a:solidFill>
                <a:latin typeface="Aptos"/>
              </a:defRPr>
            </a:pPr>
            <a:r>
              <a:t>1 building-level orchestrator plus 5 floor agents</a:t>
            </a:r>
          </a:p>
          <a:p>
            <a:pPr>
              <a:spcAft>
                <a:spcPts val="700"/>
              </a:spcAft>
              <a:defRPr sz="1600">
                <a:solidFill>
                  <a:srgbClr val="172034"/>
                </a:solidFill>
                <a:latin typeface="Aptos"/>
              </a:defRPr>
            </a:pPr>
            <a:r>
              <a:t>Role-specific observations and action schemas</a:t>
            </a:r>
          </a:p>
          <a:p>
            <a:pPr>
              <a:spcAft>
                <a:spcPts val="700"/>
              </a:spcAft>
              <a:defRPr sz="1600">
                <a:solidFill>
                  <a:srgbClr val="172034"/>
                </a:solidFill>
                <a:latin typeface="Aptos"/>
              </a:defRPr>
            </a:pPr>
            <a:r>
              <a:t>Deterministic resets for reproducible evaluation</a:t>
            </a:r>
          </a:p>
          <a:p>
            <a:pPr>
              <a:spcAft>
                <a:spcPts val="700"/>
              </a:spcAft>
              <a:defRPr sz="1600">
                <a:solidFill>
                  <a:srgbClr val="172034"/>
                </a:solidFill>
                <a:latin typeface="Aptos"/>
              </a:defRPr>
            </a:pPr>
            <a:r>
              <a:t>Programmatic rewards, invalid-action tracking, and route-target audits</a:t>
            </a:r>
          </a:p>
          <a:p>
            <a:pPr>
              <a:spcAft>
                <a:spcPts val="700"/>
              </a:spcAft>
              <a:defRPr sz="1600">
                <a:solidFill>
                  <a:srgbClr val="172034"/>
                </a:solidFill>
                <a:latin typeface="Aptos"/>
              </a:defRPr>
            </a:pPr>
            <a:r>
              <a:t>LoRA training with public checkpoints and metrics artifacts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37960" y="1874519"/>
            <a:ext cx="434340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2552" y="2020824"/>
            <a:ext cx="4014215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00" b="1">
                <a:solidFill>
                  <a:srgbClr val="1B847A"/>
                </a:solidFill>
                <a:latin typeface="Aptos"/>
              </a:defRPr>
            </a:pPr>
            <a:r>
              <a:t>OpenEnv surface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02552" y="2350008"/>
            <a:ext cx="4014215" cy="28346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00" b="0">
                <a:solidFill>
                  <a:srgbClr val="172034"/>
                </a:solidFill>
                <a:latin typeface="Aptos"/>
              </a:defRPr>
            </a:pPr>
            <a:r>
              <a:t>/openenv/health, /metadata, /reset, /step, /state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37960" y="2971800"/>
            <a:ext cx="434340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02552" y="3118104"/>
            <a:ext cx="4014215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00" b="1">
                <a:solidFill>
                  <a:srgbClr val="F58037"/>
                </a:solidFill>
                <a:latin typeface="Aptos"/>
              </a:defRPr>
            </a:pPr>
            <a:r>
              <a:t>Response lanes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02552" y="3447288"/>
            <a:ext cx="4014215" cy="28346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00" b="0">
                <a:solidFill>
                  <a:srgbClr val="172034"/>
                </a:solidFill>
                <a:latin typeface="Aptos"/>
              </a:defRPr>
            </a:pPr>
            <a:r>
              <a:t>openenv_fire_response, openenv_flood_response, openenv_gas_response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37960" y="4069080"/>
            <a:ext cx="434340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02552" y="4215384"/>
            <a:ext cx="4014215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00" b="1">
                <a:solidFill>
                  <a:srgbClr val="1B847A"/>
                </a:solidFill>
                <a:latin typeface="Aptos"/>
              </a:defRPr>
            </a:pPr>
            <a:r>
              <a:t>Artifact trail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02552" y="4544568"/>
            <a:ext cx="4014215" cy="28346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00" b="0">
                <a:solidFill>
                  <a:srgbClr val="172034"/>
                </a:solidFill>
                <a:latin typeface="Aptos"/>
              </a:defRPr>
            </a:pPr>
            <a:r>
              <a:t>README, notebook, plots, held-out CSVs, adapter repo, paper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5029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850" b="1">
                <a:solidFill>
                  <a:srgbClr val="1B847A"/>
                </a:solidFill>
                <a:latin typeface="Aptos"/>
              </a:defRPr>
            </a:pPr>
            <a: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2800" b="1">
                <a:solidFill>
                  <a:srgbClr val="172034"/>
                </a:solidFill>
                <a:latin typeface="Georgia"/>
              </a:defRPr>
            </a:pPr>
            <a:r>
              <a:t>The core idea: split speed from judgment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61320" y="6446520"/>
            <a:ext cx="10972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850" b="0">
                <a:solidFill>
                  <a:srgbClr val="59667C"/>
                </a:solidFill>
                <a:latin typeface="Aptos"/>
              </a:defRPr>
            </a:pPr>
            <a:r>
              <a:t>EvacOS2  | 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243584"/>
            <a:ext cx="1042416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2000" b="0">
                <a:solidFill>
                  <a:srgbClr val="172034"/>
                </a:solidFill>
                <a:latin typeface="Georgia"/>
              </a:defRPr>
            </a:pPr>
            <a:r>
              <a:t>Fast 3B specialists handle routine floor-level movement. A slower 7B coordinator is reserved for global priorities and outliers.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828800"/>
            <a:ext cx="3566160" cy="822960"/>
          </a:xfrm>
          <a:prstGeom prst="roundRect">
            <a:avLst/>
          </a:prstGeom>
          <a:solidFill>
            <a:srgbClr val="0D1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53712" y="2057400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ptos"/>
              </a:defRPr>
            </a:pPr>
            <a:r>
              <a:t>7B orchestrator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886200"/>
            <a:ext cx="1828800" cy="749808"/>
          </a:xfrm>
          <a:prstGeom prst="roundRect">
            <a:avLst/>
          </a:prstGeom>
          <a:solidFill>
            <a:srgbClr val="1B84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4114800"/>
            <a:ext cx="153619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ptos"/>
              </a:defRPr>
            </a:pPr>
            <a:r>
              <a:t>3B floor 1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1554480" y="2651760"/>
            <a:ext cx="4526280" cy="1234440"/>
          </a:xfrm>
          <a:prstGeom prst="line">
            <a:avLst/>
          </a:prstGeom>
          <a:ln w="16510">
            <a:solidFill>
              <a:srgbClr val="96A4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788920" y="3886200"/>
            <a:ext cx="1828800" cy="749808"/>
          </a:xfrm>
          <a:prstGeom prst="roundRect">
            <a:avLst/>
          </a:prstGeom>
          <a:solidFill>
            <a:srgbClr val="1B84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35224" y="4114800"/>
            <a:ext cx="153619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ptos"/>
              </a:defRPr>
            </a:pPr>
            <a:r>
              <a:t>3B floor 2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3703320" y="2651760"/>
            <a:ext cx="2377440" cy="1234440"/>
          </a:xfrm>
          <a:prstGeom prst="line">
            <a:avLst/>
          </a:prstGeom>
          <a:ln w="16510">
            <a:solidFill>
              <a:srgbClr val="96A4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4937760" y="3886200"/>
            <a:ext cx="1828800" cy="749808"/>
          </a:xfrm>
          <a:prstGeom prst="roundRect">
            <a:avLst/>
          </a:prstGeom>
          <a:solidFill>
            <a:srgbClr val="1B84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84064" y="4114800"/>
            <a:ext cx="153619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ptos"/>
              </a:defRPr>
            </a:pPr>
            <a:r>
              <a:t>3B floor 3</a:t>
            </a:r>
          </a:p>
        </p:txBody>
      </p:sp>
      <p:cxnSp>
        <p:nvCxnSpPr>
          <p:cNvPr id="17" name="Connector 16"/>
          <p:cNvCxnSpPr/>
          <p:nvPr/>
        </p:nvCxnSpPr>
        <p:spPr>
          <a:xfrm flipH="1">
            <a:off x="5852160" y="2651760"/>
            <a:ext cx="228600" cy="1234440"/>
          </a:xfrm>
          <a:prstGeom prst="line">
            <a:avLst/>
          </a:prstGeom>
          <a:ln w="16510">
            <a:solidFill>
              <a:srgbClr val="96A4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7086600" y="3886200"/>
            <a:ext cx="1828800" cy="749808"/>
          </a:xfrm>
          <a:prstGeom prst="roundRect">
            <a:avLst/>
          </a:prstGeom>
          <a:solidFill>
            <a:srgbClr val="1B84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32904" y="4114800"/>
            <a:ext cx="153619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ptos"/>
              </a:defRPr>
            </a:pPr>
            <a:r>
              <a:t>3B floor 4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080760" y="2651760"/>
            <a:ext cx="1920240" cy="1234440"/>
          </a:xfrm>
          <a:prstGeom prst="line">
            <a:avLst/>
          </a:prstGeom>
          <a:ln w="16510">
            <a:solidFill>
              <a:srgbClr val="96A4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9235440" y="3886200"/>
            <a:ext cx="1828800" cy="749808"/>
          </a:xfrm>
          <a:prstGeom prst="roundRect">
            <a:avLst/>
          </a:prstGeom>
          <a:solidFill>
            <a:srgbClr val="1B84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81744" y="4114800"/>
            <a:ext cx="153619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ptos"/>
              </a:defRPr>
            </a:pPr>
            <a:r>
              <a:t>3B floor 5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080760" y="2651760"/>
            <a:ext cx="4069080" cy="1234440"/>
          </a:xfrm>
          <a:prstGeom prst="line">
            <a:avLst/>
          </a:prstGeom>
          <a:ln w="16510">
            <a:solidFill>
              <a:srgbClr val="96A4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68680" y="5257800"/>
            <a:ext cx="3246120" cy="685800"/>
          </a:xfrm>
          <a:prstGeom prst="roundRect">
            <a:avLst/>
          </a:prstGeom>
          <a:solidFill>
            <a:srgbClr val="FFFFFF"/>
          </a:solidFill>
          <a:ln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3271" y="5404104"/>
            <a:ext cx="291693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00" b="1">
                <a:solidFill>
                  <a:srgbClr val="1B847A"/>
                </a:solidFill>
                <a:latin typeface="Aptos"/>
              </a:defRPr>
            </a:pPr>
            <a:r>
              <a:t>Local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3271" y="5733288"/>
            <a:ext cx="2916936" cy="10058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 b="0">
                <a:solidFill>
                  <a:srgbClr val="172034"/>
                </a:solidFill>
                <a:latin typeface="Aptos"/>
              </a:defRPr>
            </a:pPr>
            <a:r>
              <a:t>route, scout, prioritize rooms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80560" y="5257800"/>
            <a:ext cx="3246120" cy="685800"/>
          </a:xfrm>
          <a:prstGeom prst="roundRect">
            <a:avLst/>
          </a:prstGeom>
          <a:solidFill>
            <a:srgbClr val="FFFFFF"/>
          </a:solidFill>
          <a:ln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45152" y="5404104"/>
            <a:ext cx="291693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00" b="1">
                <a:solidFill>
                  <a:srgbClr val="F58037"/>
                </a:solidFill>
                <a:latin typeface="Aptos"/>
              </a:defRPr>
            </a:pPr>
            <a:r>
              <a:t>Global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45152" y="5733288"/>
            <a:ext cx="2916936" cy="10058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 b="0">
                <a:solidFill>
                  <a:srgbClr val="172034"/>
                </a:solidFill>
                <a:latin typeface="Aptos"/>
              </a:defRPr>
            </a:pPr>
            <a:r>
              <a:t>directives, bottlenecks, overrides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92440" y="5257800"/>
            <a:ext cx="3246120" cy="685800"/>
          </a:xfrm>
          <a:prstGeom prst="roundRect">
            <a:avLst/>
          </a:prstGeom>
          <a:solidFill>
            <a:srgbClr val="FFFFFF"/>
          </a:solidFill>
          <a:ln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57031" y="5404104"/>
            <a:ext cx="291693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00" b="1">
                <a:solidFill>
                  <a:srgbClr val="1B847A"/>
                </a:solidFill>
                <a:latin typeface="Aptos"/>
              </a:defRPr>
            </a:pPr>
            <a:r>
              <a:t>Fallback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57031" y="5733288"/>
            <a:ext cx="2916936" cy="10058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 b="0">
                <a:solidFill>
                  <a:srgbClr val="172034"/>
                </a:solidFill>
                <a:latin typeface="Aptos"/>
              </a:defRPr>
            </a:pPr>
            <a:r>
              <a:t>mixed incidents and escalation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5029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850" b="1">
                <a:solidFill>
                  <a:srgbClr val="1B847A"/>
                </a:solidFill>
                <a:latin typeface="Aptos"/>
              </a:defRPr>
            </a:pPr>
            <a:r>
              <a:t>EVIDENCE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2800" b="1">
                <a:solidFill>
                  <a:srgbClr val="172034"/>
                </a:solidFill>
                <a:latin typeface="Georgia"/>
              </a:defRPr>
            </a:pPr>
            <a:r>
              <a:t>We separate proof from ambition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61320" y="6446520"/>
            <a:ext cx="10972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850" b="0">
                <a:solidFill>
                  <a:srgbClr val="59667C"/>
                </a:solidFill>
                <a:latin typeface="Aptos"/>
              </a:defRPr>
            </a:pPr>
            <a:r>
              <a:t>EvacOS2  |  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371600"/>
            <a:ext cx="438912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7" name="Oval 6"/>
          <p:cNvSpPr/>
          <p:nvPr/>
        </p:nvSpPr>
        <p:spPr>
          <a:xfrm>
            <a:off x="749808" y="1325880"/>
            <a:ext cx="566928" cy="566928"/>
          </a:xfrm>
          <a:prstGeom prst="ellipse">
            <a:avLst/>
          </a:prstGeom>
          <a:solidFill>
            <a:srgbClr val="1B84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08760" y="1325880"/>
            <a:ext cx="31089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600" b="1">
                <a:solidFill>
                  <a:srgbClr val="172034"/>
                </a:solidFill>
                <a:latin typeface="Aptos"/>
              </a:defRPr>
            </a:pPr>
            <a:r>
              <a:t>Live runtime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0520" y="1325880"/>
            <a:ext cx="69494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00" b="0">
                <a:solidFill>
                  <a:srgbClr val="59667C"/>
                </a:solidFill>
                <a:latin typeface="Aptos"/>
              </a:defRPr>
            </a:pPr>
            <a:r>
              <a:t>Public HF Space responds to OpenEnv health, reset, metadata, and step calls.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2450591"/>
            <a:ext cx="438912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1" name="Oval 10"/>
          <p:cNvSpPr/>
          <p:nvPr/>
        </p:nvSpPr>
        <p:spPr>
          <a:xfrm>
            <a:off x="749808" y="2404872"/>
            <a:ext cx="566928" cy="566928"/>
          </a:xfrm>
          <a:prstGeom prst="ellipse">
            <a:avLst/>
          </a:prstGeom>
          <a:solidFill>
            <a:srgbClr val="F58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508760" y="2404872"/>
            <a:ext cx="31089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600" b="1">
                <a:solidFill>
                  <a:srgbClr val="172034"/>
                </a:solidFill>
                <a:latin typeface="Aptos"/>
              </a:defRPr>
            </a:pPr>
            <a:r>
              <a:t>3B held-out proof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60520" y="2404872"/>
            <a:ext cx="69494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00" b="0">
                <a:solidFill>
                  <a:srgbClr val="59667C"/>
                </a:solidFill>
                <a:latin typeface="Aptos"/>
              </a:defRPr>
            </a:pPr>
            <a:r>
              <a:t>Same seeds, same evaluator, base Qwen2.5-3B versus trained LoRA specialists.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3529583"/>
            <a:ext cx="438912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5" name="Oval 14"/>
          <p:cNvSpPr/>
          <p:nvPr/>
        </p:nvSpPr>
        <p:spPr>
          <a:xfrm>
            <a:off x="749808" y="3483863"/>
            <a:ext cx="566928" cy="566928"/>
          </a:xfrm>
          <a:prstGeom prst="ellipse">
            <a:avLst/>
          </a:prstGeom>
          <a:solidFill>
            <a:srgbClr val="1B84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508760" y="3483863"/>
            <a:ext cx="31089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600" b="1">
                <a:solidFill>
                  <a:srgbClr val="172034"/>
                </a:solidFill>
                <a:latin typeface="Aptos"/>
              </a:defRPr>
            </a:pPr>
            <a:r>
              <a:t>Training signal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60520" y="3483863"/>
            <a:ext cx="69494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00" b="0">
                <a:solidFill>
                  <a:srgbClr val="59667C"/>
                </a:solidFill>
                <a:latin typeface="Aptos"/>
              </a:defRPr>
            </a:pPr>
            <a:r>
              <a:t>50-step canaries and H200 continuations show checkpoints, metrics, and reward traces.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4608576"/>
            <a:ext cx="438912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Oval 18"/>
          <p:cNvSpPr/>
          <p:nvPr/>
        </p:nvSpPr>
        <p:spPr>
          <a:xfrm>
            <a:off x="749808" y="4562856"/>
            <a:ext cx="566928" cy="566928"/>
          </a:xfrm>
          <a:prstGeom prst="ellipse">
            <a:avLst/>
          </a:prstGeom>
          <a:solidFill>
            <a:srgbClr val="1B84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508760" y="4562856"/>
            <a:ext cx="31089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600" b="1">
                <a:solidFill>
                  <a:srgbClr val="172034"/>
                </a:solidFill>
                <a:latin typeface="Aptos"/>
              </a:defRPr>
            </a:pPr>
            <a:r>
              <a:t>7B canary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60520" y="4562856"/>
            <a:ext cx="69494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00" b="0">
                <a:solidFill>
                  <a:srgbClr val="59667C"/>
                </a:solidFill>
                <a:latin typeface="Aptos"/>
              </a:defRPr>
            </a:pPr>
            <a:r>
              <a:t>The orchestrator path resumes, checkpoints, emits role metrics, and keeps parser failures at zero.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5029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850" b="1">
                <a:solidFill>
                  <a:srgbClr val="1B847A"/>
                </a:solidFill>
                <a:latin typeface="Aptos"/>
              </a:defRPr>
            </a:pPr>
            <a:r>
              <a:t>HELD-OUT RESULT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2800" b="1">
                <a:solidFill>
                  <a:srgbClr val="172034"/>
                </a:solidFill>
                <a:latin typeface="Georgia"/>
              </a:defRPr>
            </a:pPr>
            <a:r>
              <a:t>The clean headline: trained 3B specialists improve reliability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61320" y="6446520"/>
            <a:ext cx="10972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850" b="0">
                <a:solidFill>
                  <a:srgbClr val="59667C"/>
                </a:solidFill>
                <a:latin typeface="Aptos"/>
              </a:defRPr>
            </a:pPr>
            <a:r>
              <a:t>EvacOS2  |  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17320"/>
            <a:ext cx="242316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000" b="1">
                <a:solidFill>
                  <a:srgbClr val="59667C"/>
                </a:solidFill>
                <a:latin typeface="Georgia"/>
              </a:defRPr>
            </a:pPr>
            <a:r>
              <a:t>62.38%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901952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80" b="1">
                <a:solidFill>
                  <a:srgbClr val="59667C"/>
                </a:solidFill>
                <a:latin typeface="Aptos"/>
              </a:defRPr>
            </a:pPr>
            <a:r>
              <a:t>base bounded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1417320"/>
            <a:ext cx="242316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000" b="1">
                <a:solidFill>
                  <a:srgbClr val="1B847A"/>
                </a:solidFill>
                <a:latin typeface="Georgia"/>
              </a:defRPr>
            </a:pPr>
            <a:r>
              <a:t>80.05%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1901952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80" b="1">
                <a:solidFill>
                  <a:srgbClr val="59667C"/>
                </a:solidFill>
                <a:latin typeface="Aptos"/>
              </a:defRPr>
            </a:pPr>
            <a:r>
              <a:t>trained bounded score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66360" y="1417320"/>
            <a:ext cx="242316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000" b="1">
                <a:solidFill>
                  <a:srgbClr val="F58037"/>
                </a:solidFill>
                <a:latin typeface="Georgia"/>
              </a:defRPr>
            </a:pPr>
            <a:r>
              <a:t>+17.67 pp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66360" y="1901952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80" b="1">
                <a:solidFill>
                  <a:srgbClr val="59667C"/>
                </a:solidFill>
                <a:latin typeface="Aptos"/>
              </a:defRPr>
            </a:pPr>
            <a:r>
              <a:t>same held-out slice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640" y="1417320"/>
            <a:ext cx="242316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000" b="1">
                <a:solidFill>
                  <a:srgbClr val="22935A"/>
                </a:solidFill>
                <a:latin typeface="Georgia"/>
              </a:defRPr>
            </a:pPr>
            <a:r>
              <a:t>34.47% to 1.10%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0" y="1901952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80" b="1">
                <a:solidFill>
                  <a:srgbClr val="59667C"/>
                </a:solidFill>
                <a:latin typeface="Aptos"/>
              </a:defRPr>
            </a:pPr>
            <a:r>
              <a:t>invalid actions</a:t>
            </a:r>
          </a:p>
        </p:txBody>
      </p:sp>
      <p:pic>
        <p:nvPicPr>
          <p:cNvPr id="14" name="Picture 13" descr="heldout_3b_base_vs_trained_eval_sc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779776"/>
            <a:ext cx="5212080" cy="2926080"/>
          </a:xfrm>
          <a:prstGeom prst="rect">
            <a:avLst/>
          </a:prstGeom>
        </p:spPr>
      </p:pic>
      <p:pic>
        <p:nvPicPr>
          <p:cNvPr id="15" name="Picture 14" descr="heldout_3b_base_vs_trained_invalid_action_r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2779776"/>
            <a:ext cx="5212080" cy="29260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5029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850" b="1">
                <a:solidFill>
                  <a:srgbClr val="1B847A"/>
                </a:solidFill>
                <a:latin typeface="Aptos"/>
              </a:defRPr>
            </a:pPr>
            <a:r>
              <a:t>FAMILY BREAKDOWN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2800" b="1">
                <a:solidFill>
                  <a:srgbClr val="172034"/>
                </a:solidFill>
                <a:latin typeface="Georgia"/>
              </a:defRPr>
            </a:pPr>
            <a:r>
              <a:t>Fire, flood, and gas each tell a different story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61320" y="6446520"/>
            <a:ext cx="10972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850" b="0">
                <a:solidFill>
                  <a:srgbClr val="59667C"/>
                </a:solidFill>
                <a:latin typeface="Aptos"/>
              </a:defRPr>
            </a:pPr>
            <a:r>
              <a:t>EvacOS2  |  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508760"/>
            <a:ext cx="1435607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1">
                <a:solidFill>
                  <a:srgbClr val="59667C"/>
                </a:solidFill>
                <a:latin typeface="Aptos"/>
              </a:defRPr>
            </a:pPr>
            <a:r>
              <a:t>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23160" y="1508760"/>
            <a:ext cx="1755648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1">
                <a:solidFill>
                  <a:srgbClr val="59667C"/>
                </a:solidFill>
                <a:latin typeface="Aptos"/>
              </a:defRPr>
            </a:pPr>
            <a:r>
              <a:t>Base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1508760"/>
            <a:ext cx="1755648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1">
                <a:solidFill>
                  <a:srgbClr val="59667C"/>
                </a:solidFill>
                <a:latin typeface="Aptos"/>
              </a:defRPr>
            </a:pPr>
            <a:r>
              <a:t>Trained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1508760"/>
            <a:ext cx="1755648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1">
                <a:solidFill>
                  <a:srgbClr val="59667C"/>
                </a:solidFill>
                <a:latin typeface="Aptos"/>
              </a:defRPr>
            </a:pPr>
            <a:r>
              <a:t>Delta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09560" y="1508760"/>
            <a:ext cx="1892807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1">
                <a:solidFill>
                  <a:srgbClr val="59667C"/>
                </a:solidFill>
                <a:latin typeface="Aptos"/>
              </a:defRPr>
            </a:pPr>
            <a:r>
              <a:t>Invalid after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" y="1984248"/>
            <a:ext cx="9107424" cy="502920"/>
          </a:xfrm>
          <a:prstGeom prst="roundRect">
            <a:avLst/>
          </a:prstGeom>
          <a:solidFill>
            <a:srgbClr val="E2F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112264"/>
            <a:ext cx="1435607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00" b="1">
                <a:solidFill>
                  <a:srgbClr val="172034"/>
                </a:solidFill>
                <a:latin typeface="Aptos"/>
              </a:defRPr>
            </a:pPr>
            <a:r>
              <a:t>Fire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23160" y="2112264"/>
            <a:ext cx="175564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00" b="0">
                <a:solidFill>
                  <a:srgbClr val="172034"/>
                </a:solidFill>
                <a:latin typeface="Aptos"/>
              </a:defRPr>
            </a:pPr>
            <a:r>
              <a:t>84.77%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60" y="2112264"/>
            <a:ext cx="175564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00" b="1">
                <a:solidFill>
                  <a:srgbClr val="1B847A"/>
                </a:solidFill>
                <a:latin typeface="Aptos"/>
              </a:defRPr>
            </a:pPr>
            <a:r>
              <a:t>96.64%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0760" y="2112264"/>
            <a:ext cx="175564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00" b="1">
                <a:solidFill>
                  <a:srgbClr val="F58037"/>
                </a:solidFill>
                <a:latin typeface="Aptos"/>
              </a:defRPr>
            </a:pPr>
            <a:r>
              <a:t>+11.87 pp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09560" y="2112264"/>
            <a:ext cx="1892807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00" b="0">
                <a:solidFill>
                  <a:srgbClr val="172034"/>
                </a:solidFill>
                <a:latin typeface="Aptos"/>
              </a:defRPr>
            </a:pPr>
            <a:r>
              <a:t>2.60%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1248" y="2642616"/>
            <a:ext cx="9107424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2770632"/>
            <a:ext cx="1435607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00" b="1">
                <a:solidFill>
                  <a:srgbClr val="172034"/>
                </a:solidFill>
                <a:latin typeface="Aptos"/>
              </a:defRPr>
            </a:pPr>
            <a:r>
              <a:t>Flood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23160" y="2770632"/>
            <a:ext cx="175564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00" b="0">
                <a:solidFill>
                  <a:srgbClr val="172034"/>
                </a:solidFill>
                <a:latin typeface="Aptos"/>
              </a:defRPr>
            </a:pPr>
            <a:r>
              <a:t>22.95%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51960" y="2770632"/>
            <a:ext cx="175564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00" b="1">
                <a:solidFill>
                  <a:srgbClr val="1B847A"/>
                </a:solidFill>
                <a:latin typeface="Aptos"/>
              </a:defRPr>
            </a:pPr>
            <a:r>
              <a:t>45.42%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80760" y="2770632"/>
            <a:ext cx="175564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00" b="1">
                <a:solidFill>
                  <a:srgbClr val="F58037"/>
                </a:solidFill>
                <a:latin typeface="Aptos"/>
              </a:defRPr>
            </a:pPr>
            <a:r>
              <a:t>+22.47 pp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09560" y="2770632"/>
            <a:ext cx="1892807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00" b="0">
                <a:solidFill>
                  <a:srgbClr val="172034"/>
                </a:solidFill>
                <a:latin typeface="Aptos"/>
              </a:defRPr>
            </a:pPr>
            <a:r>
              <a:t>0.00%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" y="3300984"/>
            <a:ext cx="9107424" cy="502920"/>
          </a:xfrm>
          <a:prstGeom prst="roundRect">
            <a:avLst/>
          </a:prstGeom>
          <a:solidFill>
            <a:srgbClr val="E2F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3429000"/>
            <a:ext cx="1435607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00" b="1">
                <a:solidFill>
                  <a:srgbClr val="172034"/>
                </a:solidFill>
                <a:latin typeface="Aptos"/>
              </a:defRPr>
            </a:pPr>
            <a:r>
              <a:t>Gas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23160" y="3429000"/>
            <a:ext cx="175564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00" b="0">
                <a:solidFill>
                  <a:srgbClr val="172034"/>
                </a:solidFill>
                <a:latin typeface="Aptos"/>
              </a:defRPr>
            </a:pPr>
            <a:r>
              <a:t>79.43%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51960" y="3429000"/>
            <a:ext cx="175564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00" b="1">
                <a:solidFill>
                  <a:srgbClr val="1B847A"/>
                </a:solidFill>
                <a:latin typeface="Aptos"/>
              </a:defRPr>
            </a:pPr>
            <a:r>
              <a:t>98.09%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80760" y="3429000"/>
            <a:ext cx="175564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00" b="1">
                <a:solidFill>
                  <a:srgbClr val="F58037"/>
                </a:solidFill>
                <a:latin typeface="Aptos"/>
              </a:defRPr>
            </a:pPr>
            <a:r>
              <a:t>+18.67 pp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09560" y="3429000"/>
            <a:ext cx="1892807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00" b="0">
                <a:solidFill>
                  <a:srgbClr val="172034"/>
                </a:solidFill>
                <a:latin typeface="Aptos"/>
              </a:defRPr>
            </a:pPr>
            <a:r>
              <a:t>0.69%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" y="4206240"/>
            <a:ext cx="99669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000" b="0">
                <a:solidFill>
                  <a:srgbClr val="172034"/>
                </a:solidFill>
                <a:latin typeface="Georgia"/>
              </a:defRPr>
            </a:pPr>
            <a:r>
              <a:t>The point is not that the base model was helpless. The point is that training made the same model more reliable under the same contract.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5029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850" b="1">
                <a:solidFill>
                  <a:srgbClr val="1B847A"/>
                </a:solidFill>
                <a:latin typeface="Aptos"/>
              </a:defRPr>
            </a:pPr>
            <a:r>
              <a:t>ROUTE-TARGET DISCIPLINE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2800" b="1">
                <a:solidFill>
                  <a:srgbClr val="172034"/>
                </a:solidFill>
                <a:latin typeface="Georgia"/>
              </a:defRPr>
            </a:pPr>
            <a:r>
              <a:t>Reliability means following the route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61320" y="6446520"/>
            <a:ext cx="10972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850" b="0">
                <a:solidFill>
                  <a:srgbClr val="59667C"/>
                </a:solidFill>
                <a:latin typeface="Aptos"/>
              </a:defRPr>
            </a:pPr>
            <a:r>
              <a:t>EvacOS2  |  08</a:t>
            </a:r>
          </a:p>
        </p:txBody>
      </p:sp>
      <p:pic>
        <p:nvPicPr>
          <p:cNvPr id="6" name="Picture 5" descr="3b_route_target_valid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98448"/>
            <a:ext cx="6766560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138160" y="1508760"/>
            <a:ext cx="306324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02752" y="1655063"/>
            <a:ext cx="273405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500" b="1">
                <a:solidFill>
                  <a:srgbClr val="F58037"/>
                </a:solidFill>
                <a:latin typeface="Aptos"/>
              </a:defRPr>
            </a:pPr>
            <a:r>
              <a:t>Why this matters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02752" y="1984248"/>
            <a:ext cx="2734056" cy="51206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00" b="0">
                <a:solidFill>
                  <a:srgbClr val="172034"/>
                </a:solidFill>
                <a:latin typeface="Aptos"/>
              </a:defRPr>
            </a:pPr>
            <a:r>
              <a:t>A route action without a target is not a plan. It is a fluent failure.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2926080"/>
            <a:ext cx="306324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02752" y="3072384"/>
            <a:ext cx="273405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500" b="1">
                <a:solidFill>
                  <a:srgbClr val="1B847A"/>
                </a:solidFill>
                <a:latin typeface="Aptos"/>
              </a:defRPr>
            </a:pPr>
            <a:r>
              <a:t>Current state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02752" y="3401568"/>
            <a:ext cx="2734056" cy="51206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00" b="0">
                <a:solidFill>
                  <a:srgbClr val="172034"/>
                </a:solidFill>
                <a:latin typeface="Aptos"/>
              </a:defRPr>
            </a:pPr>
            <a:r>
              <a:t>Fire and flood are clean. Gas remains below the 1% watchline after audit.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4343400"/>
            <a:ext cx="306324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02752" y="4489704"/>
            <a:ext cx="273405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500" b="1">
                <a:solidFill>
                  <a:srgbClr val="1B847A"/>
                </a:solidFill>
                <a:latin typeface="Aptos"/>
              </a:defRPr>
            </a:pPr>
            <a:r>
              <a:t>Judge-facing read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02752" y="4818888"/>
            <a:ext cx="2734056" cy="51206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00" b="0">
                <a:solidFill>
                  <a:srgbClr val="172034"/>
                </a:solidFill>
                <a:latin typeface="Aptos"/>
              </a:defRPr>
            </a:pPr>
            <a:r>
              <a:t>The model improved contract discipline, not just surface reward.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5029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850" b="1">
                <a:solidFill>
                  <a:srgbClr val="1B847A"/>
                </a:solidFill>
                <a:latin typeface="Aptos"/>
              </a:defRPr>
            </a:pPr>
            <a:r>
              <a:t>TRAINING TRAIL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2800" b="1">
                <a:solidFill>
                  <a:srgbClr val="172034"/>
                </a:solidFill>
                <a:latin typeface="Georgia"/>
              </a:defRPr>
            </a:pPr>
            <a:r>
              <a:t>Training was not just a table at the 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61320" y="6446520"/>
            <a:ext cx="10972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850" b="0">
                <a:solidFill>
                  <a:srgbClr val="59667C"/>
                </a:solidFill>
                <a:latin typeface="Aptos"/>
              </a:defRPr>
            </a:pPr>
            <a:r>
              <a:t>EvacOS2  |  09</a:t>
            </a:r>
          </a:p>
        </p:txBody>
      </p:sp>
      <p:pic>
        <p:nvPicPr>
          <p:cNvPr id="6" name="Picture 5" descr="h200_resume200_raw_reward_progr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325880"/>
            <a:ext cx="5257800" cy="2926080"/>
          </a:xfrm>
          <a:prstGeom prst="rect">
            <a:avLst/>
          </a:prstGeom>
        </p:spPr>
      </p:pic>
      <p:pic>
        <p:nvPicPr>
          <p:cNvPr id="7" name="Picture 6" descr="h200_resume200_invalid_action_progre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6208" y="1325880"/>
            <a:ext cx="5257800" cy="2926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77824" y="4892040"/>
            <a:ext cx="10424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000" b="0">
                <a:solidFill>
                  <a:srgbClr val="172034"/>
                </a:solidFill>
                <a:latin typeface="Georgia"/>
              </a:defRPr>
            </a:pPr>
            <a:r>
              <a:t>The larger trail includes 50-step canaries, H200 continuations to ckpt199, refreshed gas audit, and public adapter artifacts.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5029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850" b="1">
                <a:solidFill>
                  <a:srgbClr val="1B847A"/>
                </a:solidFill>
                <a:latin typeface="Aptos"/>
              </a:defRPr>
            </a:pPr>
            <a:r>
              <a:t>ORCHESTRATOR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2800" b="1">
                <a:solidFill>
                  <a:srgbClr val="172034"/>
                </a:solidFill>
                <a:latin typeface="Georgia"/>
              </a:defRPr>
            </a:pPr>
            <a:r>
              <a:t>What the 7B proves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61320" y="6446520"/>
            <a:ext cx="10972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850" b="0">
                <a:solidFill>
                  <a:srgbClr val="59667C"/>
                </a:solidFill>
                <a:latin typeface="Aptos"/>
              </a:defRPr>
            </a:pPr>
            <a:r>
              <a:t>EvacOS2  | 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8872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Georgia"/>
              </a:defRPr>
            </a:pPr>
            <a:r>
              <a:t>The 7B is not claimed as converged. It is validated as a real coordination lane.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148840"/>
            <a:ext cx="242316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000" b="1">
                <a:solidFill>
                  <a:srgbClr val="F58037"/>
                </a:solidFill>
                <a:latin typeface="Georgia"/>
              </a:defRPr>
            </a:pPr>
            <a:r>
              <a:t>350 to 359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633472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80" b="1">
                <a:solidFill>
                  <a:srgbClr val="59667C"/>
                </a:solidFill>
                <a:latin typeface="Aptos"/>
              </a:defRPr>
            </a:pPr>
            <a:r>
              <a:t>resumed canary steps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2148840"/>
            <a:ext cx="242316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000" b="1">
                <a:solidFill>
                  <a:srgbClr val="81D3BD"/>
                </a:solidFill>
                <a:latin typeface="Georgia"/>
              </a:defRPr>
            </a:pPr>
            <a:r>
              <a:t>0.00%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2633472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80" b="1">
                <a:solidFill>
                  <a:srgbClr val="59667C"/>
                </a:solidFill>
                <a:latin typeface="Aptos"/>
              </a:defRPr>
            </a:pPr>
            <a:r>
              <a:t>invalid actions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0720" y="2148840"/>
            <a:ext cx="242316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000" b="1">
                <a:solidFill>
                  <a:srgbClr val="81D3BD"/>
                </a:solidFill>
                <a:latin typeface="Georgia"/>
              </a:defRPr>
            </a:pPr>
            <a:r>
              <a:t>0.00%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0" y="2633472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80" b="1">
                <a:solidFill>
                  <a:srgbClr val="59667C"/>
                </a:solidFill>
                <a:latin typeface="Aptos"/>
              </a:defRPr>
            </a:pPr>
            <a:r>
              <a:t>orchestrator parse errors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2148840"/>
            <a:ext cx="242316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000" b="1">
                <a:solidFill>
                  <a:srgbClr val="F58037"/>
                </a:solidFill>
                <a:latin typeface="Georgia"/>
              </a:defRPr>
            </a:pPr>
            <a:r>
              <a:t>86.45%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2633472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80" b="1">
                <a:solidFill>
                  <a:srgbClr val="59667C"/>
                </a:solidFill>
                <a:latin typeface="Aptos"/>
              </a:defRPr>
            </a:pPr>
            <a:r>
              <a:t>priority-rank fraction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3977639"/>
            <a:ext cx="4572000" cy="658368"/>
          </a:xfrm>
          <a:prstGeom prst="roundRect">
            <a:avLst/>
          </a:prstGeom>
          <a:solidFill>
            <a:srgbClr val="FFFFFF"/>
          </a:solidFill>
          <a:ln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123944"/>
            <a:ext cx="424281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00" b="1">
                <a:solidFill>
                  <a:srgbClr val="81D3BD"/>
                </a:solidFill>
                <a:latin typeface="Aptos"/>
              </a:defRPr>
            </a:pPr>
            <a:r>
              <a:t>Resume path works from public checkpoint ckpt349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4453127"/>
            <a:ext cx="4242816" cy="7315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0" b="0">
                <a:solidFill>
                  <a:srgbClr val="172034"/>
                </a:solidFill>
                <a:latin typeface="Aptos"/>
              </a:defRPr>
            </a:pPr>
          </a:p>
        </p:txBody>
      </p:sp>
      <p:sp>
        <p:nvSpPr>
          <p:cNvPr id="18" name="Rounded Rectangle 17"/>
          <p:cNvSpPr/>
          <p:nvPr/>
        </p:nvSpPr>
        <p:spPr>
          <a:xfrm>
            <a:off x="6126480" y="3977639"/>
            <a:ext cx="4572000" cy="658368"/>
          </a:xfrm>
          <a:prstGeom prst="roundRect">
            <a:avLst/>
          </a:prstGeom>
          <a:solidFill>
            <a:srgbClr val="FFFFFF"/>
          </a:solidFill>
          <a:ln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91072" y="4123944"/>
            <a:ext cx="424281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00" b="1">
                <a:solidFill>
                  <a:srgbClr val="81D3BD"/>
                </a:solidFill>
                <a:latin typeface="Aptos"/>
              </a:defRPr>
            </a:pPr>
            <a:r>
              <a:t>Frozen fire, flood, and gas 3B specialists are wired 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1072" y="4453127"/>
            <a:ext cx="4242816" cy="7315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0" b="0">
                <a:solidFill>
                  <a:srgbClr val="172034"/>
                </a:solidFill>
                <a:latin typeface="Aptos"/>
              </a:defRPr>
            </a:pPr>
          </a:p>
        </p:txBody>
      </p:sp>
      <p:sp>
        <p:nvSpPr>
          <p:cNvPr id="21" name="Rounded Rectangle 20"/>
          <p:cNvSpPr/>
          <p:nvPr/>
        </p:nvSpPr>
        <p:spPr>
          <a:xfrm>
            <a:off x="914400" y="4892040"/>
            <a:ext cx="4572000" cy="658368"/>
          </a:xfrm>
          <a:prstGeom prst="roundRect">
            <a:avLst/>
          </a:prstGeom>
          <a:solidFill>
            <a:srgbClr val="FFFFFF"/>
          </a:solidFill>
          <a:ln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78992" y="5038344"/>
            <a:ext cx="424281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00" b="1">
                <a:solidFill>
                  <a:srgbClr val="81D3BD"/>
                </a:solidFill>
                <a:latin typeface="Aptos"/>
              </a:defRPr>
            </a:pPr>
            <a:r>
              <a:t>Role metrics are emitted separately for orchestrator behavior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" y="5367527"/>
            <a:ext cx="4242816" cy="7315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0" b="0">
                <a:solidFill>
                  <a:srgbClr val="172034"/>
                </a:solidFill>
                <a:latin typeface="Aptos"/>
              </a:defRPr>
            </a:pPr>
          </a:p>
        </p:txBody>
      </p:sp>
      <p:sp>
        <p:nvSpPr>
          <p:cNvPr id="24" name="Rounded Rectangle 23"/>
          <p:cNvSpPr/>
          <p:nvPr/>
        </p:nvSpPr>
        <p:spPr>
          <a:xfrm>
            <a:off x="6126480" y="4892040"/>
            <a:ext cx="4572000" cy="658368"/>
          </a:xfrm>
          <a:prstGeom prst="roundRect">
            <a:avLst/>
          </a:prstGeom>
          <a:solidFill>
            <a:srgbClr val="FFFFFF"/>
          </a:solidFill>
          <a:ln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91072" y="5038344"/>
            <a:ext cx="424281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00" b="1">
                <a:solidFill>
                  <a:srgbClr val="81D3BD"/>
                </a:solidFill>
                <a:latin typeface="Aptos"/>
              </a:defRPr>
            </a:pPr>
            <a:r>
              <a:t>Final held-out 7B convergence remains future work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91072" y="5367527"/>
            <a:ext cx="4242816" cy="7315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0" b="0">
                <a:solidFill>
                  <a:srgbClr val="172034"/>
                </a:solidFill>
                <a:latin typeface="Aptos"/>
              </a:defRPr>
            </a:p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5029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850" b="1">
                <a:solidFill>
                  <a:srgbClr val="1B847A"/>
                </a:solidFill>
                <a:latin typeface="Aptos"/>
              </a:defRPr>
            </a:pPr>
            <a:r>
              <a:t>REPRODUCIBILITY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2800" b="1">
                <a:solidFill>
                  <a:srgbClr val="172034"/>
                </a:solidFill>
                <a:latin typeface="Georgia"/>
              </a:defRPr>
            </a:pPr>
            <a:r>
              <a:t>Everything important is public and rerunnable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61320" y="6446520"/>
            <a:ext cx="10972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850" b="0">
                <a:solidFill>
                  <a:srgbClr val="59667C"/>
                </a:solidFill>
                <a:latin typeface="Aptos"/>
              </a:defRPr>
            </a:pPr>
            <a:r>
              <a:t>EvacOS2  |  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0120" y="1417320"/>
            <a:ext cx="10195560" cy="566928"/>
          </a:xfrm>
          <a:prstGeom prst="roundRect">
            <a:avLst/>
          </a:prstGeom>
          <a:solidFill>
            <a:srgbClr val="FFFFFF"/>
          </a:solidFill>
          <a:ln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" y="1563624"/>
            <a:ext cx="986637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00" b="1">
                <a:solidFill>
                  <a:srgbClr val="1B847A"/>
                </a:solidFill>
                <a:latin typeface="Aptos"/>
              </a:defRPr>
            </a:pPr>
            <a:r>
              <a:t>Live Space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" y="1892808"/>
            <a:ext cx="9866376" cy="-182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00" b="0">
                <a:solidFill>
                  <a:srgbClr val="172034"/>
                </a:solidFill>
                <a:latin typeface="Aptos"/>
              </a:defRPr>
            </a:pPr>
            <a:r>
              <a:t>huggingface.co/spaces/shashankN777/evacos2-openenv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0120" y="2221992"/>
            <a:ext cx="10195560" cy="566928"/>
          </a:xfrm>
          <a:prstGeom prst="roundRect">
            <a:avLst/>
          </a:prstGeom>
          <a:solidFill>
            <a:srgbClr val="FFFFFF"/>
          </a:solidFill>
          <a:ln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24712" y="2368296"/>
            <a:ext cx="986637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00" b="1">
                <a:solidFill>
                  <a:srgbClr val="F58037"/>
                </a:solidFill>
                <a:latin typeface="Aptos"/>
              </a:defRPr>
            </a:pPr>
            <a:r>
              <a:t>GitHub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" y="2697480"/>
            <a:ext cx="9866376" cy="-182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00" b="0">
                <a:solidFill>
                  <a:srgbClr val="172034"/>
                </a:solidFill>
                <a:latin typeface="Aptos"/>
              </a:defRPr>
            </a:pPr>
            <a:r>
              <a:t>github.com/sai-shashankN/EvacOS2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0120" y="3026664"/>
            <a:ext cx="10195560" cy="566928"/>
          </a:xfrm>
          <a:prstGeom prst="roundRect">
            <a:avLst/>
          </a:prstGeom>
          <a:solidFill>
            <a:srgbClr val="FFFFFF"/>
          </a:solidFill>
          <a:ln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24712" y="3172968"/>
            <a:ext cx="986637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00" b="1">
                <a:solidFill>
                  <a:srgbClr val="1B847A"/>
                </a:solidFill>
                <a:latin typeface="Aptos"/>
              </a:defRPr>
            </a:pPr>
            <a:r>
              <a:t>Notebook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" y="3502152"/>
            <a:ext cx="9866376" cy="-182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00" b="0">
                <a:solidFill>
                  <a:srgbClr val="172034"/>
                </a:solidFill>
                <a:latin typeface="Aptos"/>
              </a:defRPr>
            </a:pPr>
            <a:r>
              <a:t>notebooks/train_evacos_ma.ipynb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0120" y="3831336"/>
            <a:ext cx="10195560" cy="566928"/>
          </a:xfrm>
          <a:prstGeom prst="roundRect">
            <a:avLst/>
          </a:prstGeom>
          <a:solidFill>
            <a:srgbClr val="FFFFFF"/>
          </a:solidFill>
          <a:ln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24712" y="3977640"/>
            <a:ext cx="986637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00" b="1">
                <a:solidFill>
                  <a:srgbClr val="F58037"/>
                </a:solidFill>
                <a:latin typeface="Aptos"/>
              </a:defRPr>
            </a:pPr>
            <a:r>
              <a:t>Artifacts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" y="4306824"/>
            <a:ext cx="9866376" cy="-182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00" b="0">
                <a:solidFill>
                  <a:srgbClr val="172034"/>
                </a:solidFill>
                <a:latin typeface="Aptos"/>
              </a:defRPr>
            </a:pPr>
            <a:r>
              <a:t>shashankN777/evacos2-7b-orchestrator-artifacts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60120" y="4636008"/>
            <a:ext cx="10195560" cy="566928"/>
          </a:xfrm>
          <a:prstGeom prst="roundRect">
            <a:avLst/>
          </a:prstGeom>
          <a:solidFill>
            <a:srgbClr val="FFFFFF"/>
          </a:solidFill>
          <a:ln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24712" y="4782312"/>
            <a:ext cx="986637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00" b="1">
                <a:solidFill>
                  <a:srgbClr val="1B847A"/>
                </a:solidFill>
                <a:latin typeface="Aptos"/>
              </a:defRPr>
            </a:pPr>
            <a:r>
              <a:t>Paper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4712" y="5111496"/>
            <a:ext cx="9866376" cy="-182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00" b="0">
                <a:solidFill>
                  <a:srgbClr val="172034"/>
                </a:solidFill>
                <a:latin typeface="Aptos"/>
              </a:defRPr>
            </a:pPr>
            <a:r>
              <a:t>RESEARCH_PAPER.md and RESEARCH_PAPER.pdf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863840" y="365760"/>
            <a:ext cx="3840480" cy="3840480"/>
          </a:xfrm>
          <a:prstGeom prst="ellipse">
            <a:avLst/>
          </a:prstGeom>
          <a:solidFill>
            <a:srgbClr val="1B84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14400" y="4297680"/>
            <a:ext cx="3200400" cy="3200400"/>
          </a:xfrm>
          <a:prstGeom prst="ellipse">
            <a:avLst/>
          </a:prstGeom>
          <a:solidFill>
            <a:srgbClr val="F58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841248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2200" b="0">
                <a:solidFill>
                  <a:srgbClr val="CDDCE3"/>
                </a:solidFill>
                <a:latin typeface="Georgia"/>
              </a:defRPr>
            </a:pPr>
            <a:r>
              <a:t>The claim is simple: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1444752"/>
            <a:ext cx="804672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Georgia"/>
              </a:defRPr>
            </a:pPr>
            <a:r>
              <a:t>EvacOS2 makes agent-team failure measurable.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2395728"/>
            <a:ext cx="78638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2100" b="0">
                <a:solidFill>
                  <a:srgbClr val="E2ECF0"/>
                </a:solidFill>
                <a:latin typeface="Georgia"/>
              </a:defRPr>
            </a:pPr>
            <a:r>
              <a:t>It does not ask whether a model can sound helpful. It asks whether the right agent acts at the right time, with a valid action, inside a changing world.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4892040"/>
            <a:ext cx="6949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600" b="0">
                <a:solidFill>
                  <a:srgbClr val="C8D7DE"/>
                </a:solidFill>
                <a:latin typeface="Aptos"/>
              </a:defRPr>
            </a:pPr>
            <a:r>
              <a:t>Next step: larger held-out suites and a final 7B orchestrator scorecard.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815584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2200" b="1">
                <a:solidFill>
                  <a:srgbClr val="F58037"/>
                </a:solidFill>
                <a:latin typeface="Georgia"/>
              </a:defRPr>
            </a:pPr>
            <a:r>
              <a:t>Thank you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F7C3A"/>
                </a:solidFill>
                <a:latin typeface="Aptos"/>
              </a:rPr>
              <a:t>TECH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04672"/>
            <a:ext cx="107899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E162B"/>
                </a:solidFill>
                <a:latin typeface="Georgia"/>
              </a:rPr>
              <a:t>What the system is actually built 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572768"/>
            <a:ext cx="2148840" cy="384048"/>
          </a:xfrm>
          <a:prstGeom prst="roundRect">
            <a:avLst/>
          </a:prstGeom>
          <a:solidFill>
            <a:srgbClr val="2384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655064"/>
            <a:ext cx="19933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Aptos"/>
              </a:rPr>
              <a:t>OpenEnv API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07792" y="1572768"/>
            <a:ext cx="2148840" cy="384048"/>
          </a:xfrm>
          <a:prstGeom prst="roundRect">
            <a:avLst/>
          </a:prstGeom>
          <a:solidFill>
            <a:srgbClr val="0E1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80944" y="1655064"/>
            <a:ext cx="19933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Aptos"/>
              </a:rPr>
              <a:t>Qwen2.5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221224" y="1572768"/>
            <a:ext cx="2148840" cy="384048"/>
          </a:xfrm>
          <a:prstGeom prst="roundRect">
            <a:avLst/>
          </a:prstGeom>
          <a:solidFill>
            <a:srgbClr val="EF7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94376" y="1655064"/>
            <a:ext cx="19933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Aptos"/>
              </a:rPr>
              <a:t>Unsloth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34656" y="1572768"/>
            <a:ext cx="2148840" cy="384048"/>
          </a:xfrm>
          <a:prstGeom prst="roundRect">
            <a:avLst/>
          </a:prstGeom>
          <a:solidFill>
            <a:srgbClr val="2384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7808" y="1655064"/>
            <a:ext cx="19933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Aptos"/>
              </a:rPr>
              <a:t>LoRA adapters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848088" y="1572768"/>
            <a:ext cx="2148840" cy="384048"/>
          </a:xfrm>
          <a:prstGeom prst="roundRect">
            <a:avLst/>
          </a:prstGeom>
          <a:solidFill>
            <a:srgbClr val="0E1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21240" y="1655064"/>
            <a:ext cx="19933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Aptos"/>
              </a:rPr>
              <a:t>HF Spaces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2267712"/>
            <a:ext cx="3401568" cy="15361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" y="2267712"/>
            <a:ext cx="73152" cy="1536192"/>
          </a:xfrm>
          <a:prstGeom prst="rect">
            <a:avLst/>
          </a:prstGeom>
          <a:solidFill>
            <a:srgbClr val="2384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6968" y="2432304"/>
            <a:ext cx="29900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E162B"/>
                </a:solidFill>
                <a:latin typeface="Aptos"/>
              </a:rPr>
              <a:t>Environment layer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" y="2798064"/>
            <a:ext cx="299008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65266"/>
                </a:solidFill>
                <a:latin typeface="Aptos"/>
              </a:rPr>
              <a:t>Deterministic evacuation simulator with fire, flood, and gas lanes exposed through /openenv health, metadata, reset, step, and state endpoints.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34840" y="2267712"/>
            <a:ext cx="3401568" cy="15361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34840" y="2267712"/>
            <a:ext cx="73152" cy="1536192"/>
          </a:xfrm>
          <a:prstGeom prst="rect">
            <a:avLst/>
          </a:prstGeom>
          <a:solidFill>
            <a:srgbClr val="EF7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36007" y="2432304"/>
            <a:ext cx="29900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E162B"/>
                </a:solidFill>
                <a:latin typeface="Aptos"/>
              </a:rPr>
              <a:t>Training layer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36007" y="2798064"/>
            <a:ext cx="299008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65266"/>
                </a:solidFill>
                <a:latin typeface="Aptos"/>
              </a:rPr>
              <a:t>Unsloth backend, 4-bit base-model loading, PEFT LoRA adapters, GRPO-family reward optimization, checkpointed metrics and artifacts.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83879" y="2267712"/>
            <a:ext cx="3401568" cy="15361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183879" y="2267712"/>
            <a:ext cx="73152" cy="1536192"/>
          </a:xfrm>
          <a:prstGeom prst="rect">
            <a:avLst/>
          </a:prstGeom>
          <a:solidFill>
            <a:srgbClr val="2384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85048" y="2432304"/>
            <a:ext cx="29900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E162B"/>
                </a:solidFill>
                <a:latin typeface="Aptos"/>
              </a:rPr>
              <a:t>Evidence layer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5048" y="2798064"/>
            <a:ext cx="299008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65266"/>
                </a:solidFill>
                <a:latin typeface="Aptos"/>
              </a:rPr>
              <a:t>Held-out base/no-LoRA versus trained-LoRA scorecards, plots, public HF artifact repos, notebook, and a runnable Space.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51560" y="4279392"/>
            <a:ext cx="10149840" cy="1188720"/>
          </a:xfrm>
          <a:prstGeom prst="roundRect">
            <a:avLst/>
          </a:prstGeom>
          <a:solidFill>
            <a:srgbClr val="0E162B"/>
          </a:solidFill>
          <a:ln w="12700"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51560" y="4279392"/>
            <a:ext cx="73152" cy="1188720"/>
          </a:xfrm>
          <a:prstGeom prst="rect">
            <a:avLst/>
          </a:prstGeom>
          <a:solidFill>
            <a:srgbClr val="EF7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52728" y="4443983"/>
            <a:ext cx="9738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E162B"/>
                </a:solidFill>
                <a:latin typeface="Aptos"/>
              </a:rPr>
              <a:t>Design principle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52728" y="4809744"/>
            <a:ext cx="9738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65266"/>
                </a:solidFill>
                <a:latin typeface="Aptos"/>
              </a:rPr>
              <a:t>Keep the simulator legible, keep the model weights lightweight, and keep the evidence reproducible enough for a judge to rerun or inspect.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53312" y="4672584"/>
            <a:ext cx="9509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Georgia"/>
              </a:rPr>
              <a:t>This is why the project reads as a benchmark, not just a demo script.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F7C3A"/>
                </a:solidFill>
                <a:latin typeface="Aptos"/>
              </a:rPr>
              <a:t>WHY UNSLOTH?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04672"/>
            <a:ext cx="107899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E162B"/>
                </a:solidFill>
                <a:latin typeface="Georgia"/>
              </a:rPr>
              <a:t>The training constraint was not glamour, it was throughput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55648"/>
            <a:ext cx="3429000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755648"/>
            <a:ext cx="73152" cy="1298448"/>
          </a:xfrm>
          <a:prstGeom prst="rect">
            <a:avLst/>
          </a:prstGeom>
          <a:solidFill>
            <a:srgbClr val="2384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92024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E162B"/>
                </a:solidFill>
                <a:latin typeface="Aptos"/>
              </a:rPr>
              <a:t>Lower memory pressure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286000"/>
            <a:ext cx="3017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65266"/>
                </a:solidFill>
                <a:latin typeface="Aptos"/>
              </a:rPr>
              <a:t>The base model is loaded in 4-bit mode, which made 3B specialists and 7B orchestration experiments practical on rented GPUs.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07408" y="1755648"/>
            <a:ext cx="3429000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07408" y="1755648"/>
            <a:ext cx="73152" cy="1298448"/>
          </a:xfrm>
          <a:prstGeom prst="rect">
            <a:avLst/>
          </a:prstGeom>
          <a:solidFill>
            <a:srgbClr val="EF7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08576" y="192024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E162B"/>
                </a:solidFill>
                <a:latin typeface="Aptos"/>
              </a:rPr>
              <a:t>Fast adapter iteration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08576" y="2286000"/>
            <a:ext cx="3017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65266"/>
                </a:solidFill>
                <a:latin typeface="Aptos"/>
              </a:rPr>
              <a:t>We needed frequent short runs, parser fixes, resume tests, and canaries. Adapter-only training kept iteration speed sane.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83296" y="1755648"/>
            <a:ext cx="3429000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83296" y="1755648"/>
            <a:ext cx="73152" cy="1298448"/>
          </a:xfrm>
          <a:prstGeom prst="rect">
            <a:avLst/>
          </a:prstGeom>
          <a:solidFill>
            <a:srgbClr val="2384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84464" y="192024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E162B"/>
                </a:solidFill>
                <a:latin typeface="Aptos"/>
              </a:rPr>
              <a:t>Qwen-friendly path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84464" y="2286000"/>
            <a:ext cx="3017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65266"/>
                </a:solidFill>
                <a:latin typeface="Aptos"/>
              </a:rPr>
              <a:t>The stack supports the Qwen2.5 Instruct family used for the 3B floor specialists and the 7B orchestrator lane.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43000" y="3520440"/>
            <a:ext cx="4800600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43000" y="3520440"/>
            <a:ext cx="73152" cy="1298448"/>
          </a:xfrm>
          <a:prstGeom prst="rect">
            <a:avLst/>
          </a:prstGeom>
          <a:solidFill>
            <a:srgbClr val="EF7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44168" y="3685032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E162B"/>
                </a:solidFill>
                <a:latin typeface="Aptos"/>
              </a:rPr>
              <a:t>Checkpoint economics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44168" y="4050791"/>
            <a:ext cx="43891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65266"/>
                </a:solidFill>
                <a:latin typeface="Aptos"/>
              </a:rPr>
              <a:t>Uploading full model copies for every specialist would be wasteful. LoRA adapter folders are smaller, clearer, and easier to compare.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3520440"/>
            <a:ext cx="4800600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63640" y="3520440"/>
            <a:ext cx="73152" cy="1298448"/>
          </a:xfrm>
          <a:prstGeom prst="rect">
            <a:avLst/>
          </a:prstGeom>
          <a:solidFill>
            <a:srgbClr val="2384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4807" y="3685032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E162B"/>
                </a:solidFill>
                <a:latin typeface="Aptos"/>
              </a:rPr>
              <a:t>Failure recovery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64807" y="4050791"/>
            <a:ext cx="43891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65266"/>
                </a:solidFill>
                <a:latin typeface="Aptos"/>
              </a:rPr>
              <a:t>When CUDA, parser, or reward issues appeared, we could resume from checkpoints instead of restarting every experiment from zero.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349240"/>
            <a:ext cx="10378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E162B"/>
                </a:solidFill>
                <a:latin typeface="Georgia"/>
              </a:rPr>
              <a:t>In short: Unsloth let us spend compute on environment interaction instead of on moving huge model copies around.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F7C3A"/>
                </a:solidFill>
                <a:latin typeface="Aptos"/>
              </a:rPr>
              <a:t>LORA VS QLORA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04672"/>
            <a:ext cx="107899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E162B"/>
                </a:solidFill>
                <a:latin typeface="Georgia"/>
              </a:rPr>
              <a:t>What we used, and why the wording matters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91640"/>
            <a:ext cx="342900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91640"/>
            <a:ext cx="73152" cy="2148840"/>
          </a:xfrm>
          <a:prstGeom prst="rect">
            <a:avLst/>
          </a:prstGeom>
          <a:solidFill>
            <a:srgbClr val="2384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1856232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E162B"/>
                </a:solidFill>
                <a:latin typeface="Aptos"/>
              </a:rPr>
              <a:t>LoRA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221992"/>
            <a:ext cx="30175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65266"/>
                </a:solidFill>
                <a:latin typeface="Aptos"/>
              </a:rPr>
              <a:t>Freeze the pretrained model and train small low-rank adapter matrices. This is the adapter we save, upload, resume, and evaluate.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691640"/>
            <a:ext cx="342900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120" y="1691640"/>
            <a:ext cx="73152" cy="2148840"/>
          </a:xfrm>
          <a:prstGeom prst="rect">
            <a:avLst/>
          </a:prstGeom>
          <a:solidFill>
            <a:srgbClr val="EF7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0288" y="1856232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E162B"/>
                </a:solidFill>
                <a:latin typeface="Aptos"/>
              </a:rPr>
              <a:t>QLoRA-style setup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0288" y="2221992"/>
            <a:ext cx="30175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65266"/>
                </a:solidFill>
                <a:latin typeface="Aptos"/>
              </a:rPr>
              <a:t>Load the base model in 4-bit precision while training LoRA adapters. In our configs this is the load_in_4bit: true path.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2440" y="1691640"/>
            <a:ext cx="342900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92440" y="1691640"/>
            <a:ext cx="73152" cy="2148840"/>
          </a:xfrm>
          <a:prstGeom prst="rect">
            <a:avLst/>
          </a:prstGeom>
          <a:solidFill>
            <a:srgbClr val="2384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3608" y="1856232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E162B"/>
                </a:solidFill>
                <a:latin typeface="Aptos"/>
              </a:rPr>
              <a:t>Not full fine-tuning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3608" y="2221992"/>
            <a:ext cx="30175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65266"/>
                </a:solidFill>
                <a:latin typeface="Aptos"/>
              </a:rPr>
              <a:t>We did not claim full-model weight updates. The public artifacts are PEFT-compatible LoRA adapters plus metrics, logs, and configs.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4160520"/>
            <a:ext cx="10744200" cy="1216152"/>
          </a:xfrm>
          <a:prstGeom prst="roundRect">
            <a:avLst/>
          </a:prstGeom>
          <a:solidFill>
            <a:srgbClr val="0E162B"/>
          </a:solidFill>
          <a:ln w="12700"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14400" y="4160520"/>
            <a:ext cx="73152" cy="1216152"/>
          </a:xfrm>
          <a:prstGeom prst="rect">
            <a:avLst/>
          </a:prstGeom>
          <a:solidFill>
            <a:srgbClr val="EF7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15568" y="4325112"/>
            <a:ext cx="10332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E162B"/>
                </a:solidFill>
                <a:latin typeface="Aptos"/>
              </a:rPr>
              <a:t>Concrete EvacOS2 settings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4690872"/>
            <a:ext cx="10332720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65266"/>
                </a:solidFill>
                <a:latin typeface="Aptos"/>
              </a:rPr>
              <a:t>rank 16, alpha 32, dropout 0.05, target modules q_proj, k_proj, v_proj, o_proj; base models Qwen2.5-3B-Instruct for specialists and Qwen2.5-7B-Instruct for the orchestrator lane.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70432" y="4590288"/>
            <a:ext cx="10195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50" b="1">
                <a:solidFill>
                  <a:srgbClr val="FFFFFF"/>
                </a:solidFill>
                <a:latin typeface="Aptos"/>
              </a:rPr>
              <a:t>Judge-facing wording: trained LoRA adapters on a 4-bit loaded base model, not full model retraining.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F7C3A"/>
                </a:solidFill>
                <a:latin typeface="Aptos"/>
              </a:rPr>
              <a:t>TRAINING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04672"/>
            <a:ext cx="107899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E162B"/>
                </a:solidFill>
                <a:latin typeface="Georgia"/>
              </a:rPr>
              <a:t>How a step becomes evidence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1554480"/>
            <a:ext cx="10287000" cy="6035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60120" y="1554480"/>
            <a:ext cx="73152" cy="603504"/>
          </a:xfrm>
          <a:prstGeom prst="rect">
            <a:avLst/>
          </a:prstGeom>
          <a:solidFill>
            <a:srgbClr val="2384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61288" y="1719072"/>
            <a:ext cx="9875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E162B"/>
                </a:solidFill>
                <a:latin typeface="Aptos"/>
              </a:rPr>
              <a:t>1. Sample episodes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1288" y="2084831"/>
            <a:ext cx="9875520" cy="-365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65266"/>
                </a:solidFill>
                <a:latin typeface="Aptos"/>
              </a:rPr>
              <a:t>Fire, flood, and gas resets produce structured multi-agent observations.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0120" y="2331720"/>
            <a:ext cx="10287000" cy="6035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60120" y="2331720"/>
            <a:ext cx="73152" cy="603504"/>
          </a:xfrm>
          <a:prstGeom prst="rect">
            <a:avLst/>
          </a:prstGeom>
          <a:solidFill>
            <a:srgbClr val="EF7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61288" y="2496312"/>
            <a:ext cx="9875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E162B"/>
                </a:solidFill>
                <a:latin typeface="Aptos"/>
              </a:rPr>
              <a:t>2. Generate actions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61288" y="2862072"/>
            <a:ext cx="9875520" cy="-365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65266"/>
                </a:solidFill>
                <a:latin typeface="Aptos"/>
              </a:rPr>
              <a:t>Floor agents and the orchestrator emit schema-bound actions, not free-form plans.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120" y="3108960"/>
            <a:ext cx="10287000" cy="6035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60120" y="3108960"/>
            <a:ext cx="73152" cy="603504"/>
          </a:xfrm>
          <a:prstGeom prst="rect">
            <a:avLst/>
          </a:prstGeom>
          <a:solidFill>
            <a:srgbClr val="2384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61288" y="3273552"/>
            <a:ext cx="9875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E162B"/>
                </a:solidFill>
                <a:latin typeface="Aptos"/>
              </a:rPr>
              <a:t>3. Validate and reward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61288" y="3639312"/>
            <a:ext cx="9875520" cy="-365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65266"/>
                </a:solidFill>
                <a:latin typeface="Aptos"/>
              </a:rPr>
              <a:t>Parser, route-target checks, invalid-action penalties, and disaster rewards create the signal.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0120" y="3886200"/>
            <a:ext cx="10287000" cy="6035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60120" y="3886200"/>
            <a:ext cx="73152" cy="603504"/>
          </a:xfrm>
          <a:prstGeom prst="rect">
            <a:avLst/>
          </a:prstGeom>
          <a:solidFill>
            <a:srgbClr val="EF7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61288" y="4050791"/>
            <a:ext cx="9875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E162B"/>
                </a:solidFill>
                <a:latin typeface="Aptos"/>
              </a:rPr>
              <a:t>4. GRPO-family update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61288" y="4416552"/>
            <a:ext cx="9875520" cy="-365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65266"/>
                </a:solidFill>
                <a:latin typeface="Aptos"/>
              </a:rPr>
              <a:t>Grouped rewards train LoRA adapters while KL keeps the policy from drifting too far.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" y="4663440"/>
            <a:ext cx="10287000" cy="6035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60120" y="4663440"/>
            <a:ext cx="73152" cy="603504"/>
          </a:xfrm>
          <a:prstGeom prst="rect">
            <a:avLst/>
          </a:prstGeom>
          <a:solidFill>
            <a:srgbClr val="2384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61288" y="4828031"/>
            <a:ext cx="9875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E162B"/>
                </a:solidFill>
                <a:latin typeface="Aptos"/>
              </a:rPr>
              <a:t>5. Save 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61288" y="5193792"/>
            <a:ext cx="9875520" cy="-365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65266"/>
                </a:solidFill>
                <a:latin typeface="Aptos"/>
              </a:rPr>
              <a:t>Checkpoints, CSV metrics, JSONL traces, plots, and held-out scorecards are published separately from the base model.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5650992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50" b="1">
                <a:solidFill>
                  <a:srgbClr val="0E162B"/>
                </a:solidFill>
                <a:latin typeface="Aptos"/>
              </a:rPr>
              <a:t>The important split: training reward can be messy and diagnostic, while held-out evaluation stays bounded, readable, and judge-facing.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